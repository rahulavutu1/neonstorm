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18"/>
  </p:notesMasterIdLst>
  <p:sldIdLst>
    <p:sldId id="258" r:id="rId2"/>
    <p:sldId id="261" r:id="rId3"/>
    <p:sldId id="273" r:id="rId4"/>
    <p:sldId id="272" r:id="rId5"/>
    <p:sldId id="262" r:id="rId6"/>
    <p:sldId id="270" r:id="rId7"/>
    <p:sldId id="275" r:id="rId8"/>
    <p:sldId id="276" r:id="rId9"/>
    <p:sldId id="278" r:id="rId10"/>
    <p:sldId id="264" r:id="rId11"/>
    <p:sldId id="265" r:id="rId12"/>
    <p:sldId id="260" r:id="rId13"/>
    <p:sldId id="279" r:id="rId14"/>
    <p:sldId id="266" r:id="rId15"/>
    <p:sldId id="271" r:id="rId16"/>
    <p:sldId id="274" r:id="rId17"/>
  </p:sldIdLst>
  <p:sldSz cx="9144000" cy="6858000" type="screen4x3"/>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72C"/>
    <a:srgbClr val="69B3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132"/>
    <p:restoredTop sz="93333" autoAdjust="0"/>
  </p:normalViewPr>
  <p:slideViewPr>
    <p:cSldViewPr snapToGrid="0" snapToObjects="1">
      <p:cViewPr>
        <p:scale>
          <a:sx n="82" d="100"/>
          <a:sy n="82" d="100"/>
        </p:scale>
        <p:origin x="12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4F5539-A4B2-4FEE-A14D-FA1C40DA1A04}" type="doc">
      <dgm:prSet loTypeId="urn:microsoft.com/office/officeart/2016/7/layout/VerticalDownArrowProcess" loCatId="process" qsTypeId="urn:microsoft.com/office/officeart/2005/8/quickstyle/simple1" qsCatId="simple" csTypeId="urn:microsoft.com/office/officeart/2005/8/colors/colorful1" csCatId="colorful" phldr="1"/>
      <dgm:spPr/>
      <dgm:t>
        <a:bodyPr/>
        <a:lstStyle/>
        <a:p>
          <a:endParaRPr lang="en-US"/>
        </a:p>
      </dgm:t>
    </dgm:pt>
    <dgm:pt modelId="{9B453CB0-161B-4585-9690-EF5C96AC0561}">
      <dgm:prSet/>
      <dgm:spPr/>
      <dgm:t>
        <a:bodyPr/>
        <a:lstStyle/>
        <a:p>
          <a:r>
            <a:rPr lang="en-US" dirty="0"/>
            <a:t>Step 1</a:t>
          </a:r>
        </a:p>
      </dgm:t>
    </dgm:pt>
    <dgm:pt modelId="{FA693E23-FB71-4DFC-B4CC-0E8A44700A6B}" type="parTrans" cxnId="{F94392AE-4D3C-4412-B053-476917C9251E}">
      <dgm:prSet/>
      <dgm:spPr/>
      <dgm:t>
        <a:bodyPr/>
        <a:lstStyle/>
        <a:p>
          <a:endParaRPr lang="en-US"/>
        </a:p>
      </dgm:t>
    </dgm:pt>
    <dgm:pt modelId="{57C530ED-327E-4F53-9E8B-4490FF5CD35C}" type="sibTrans" cxnId="{F94392AE-4D3C-4412-B053-476917C9251E}">
      <dgm:prSet/>
      <dgm:spPr/>
      <dgm:t>
        <a:bodyPr/>
        <a:lstStyle/>
        <a:p>
          <a:endParaRPr lang="en-US"/>
        </a:p>
      </dgm:t>
    </dgm:pt>
    <dgm:pt modelId="{87A60A5B-482C-4AD5-A6E5-D153689F4441}">
      <dgm:prSet custT="1"/>
      <dgm:spPr/>
      <dgm:t>
        <a:bodyPr/>
        <a:lstStyle/>
        <a:p>
          <a:r>
            <a:rPr lang="en-US" sz="1600" dirty="0">
              <a:latin typeface="Times New Roman" panose="02020603050405020304" pitchFamily="18" charset="0"/>
              <a:cs typeface="Times New Roman" panose="02020603050405020304" pitchFamily="18" charset="0"/>
            </a:rPr>
            <a:t>COLLECTING THE  DATA FROM PUBLIC SITES LIKE </a:t>
          </a:r>
          <a:r>
            <a:rPr lang="en-US" sz="1600" dirty="0" err="1">
              <a:latin typeface="Times New Roman" panose="02020603050405020304" pitchFamily="18" charset="0"/>
              <a:cs typeface="Times New Roman" panose="02020603050405020304" pitchFamily="18" charset="0"/>
            </a:rPr>
            <a:t>BreaKHis</a:t>
          </a:r>
          <a:r>
            <a:rPr lang="en-US" sz="1600" dirty="0">
              <a:latin typeface="Times New Roman" panose="02020603050405020304" pitchFamily="18" charset="0"/>
              <a:cs typeface="Times New Roman" panose="02020603050405020304" pitchFamily="18" charset="0"/>
            </a:rPr>
            <a:t>, CAMELYON16 and </a:t>
          </a:r>
          <a:r>
            <a:rPr lang="en-US" sz="1600" dirty="0" err="1">
              <a:latin typeface="Times New Roman" panose="02020603050405020304" pitchFamily="18" charset="0"/>
              <a:cs typeface="Times New Roman" panose="02020603050405020304" pitchFamily="18" charset="0"/>
            </a:rPr>
            <a:t>PatchCamelyon</a:t>
          </a:r>
          <a:endParaRPr lang="en-US" sz="1600" dirty="0">
            <a:latin typeface="Times New Roman" panose="02020603050405020304" pitchFamily="18" charset="0"/>
            <a:cs typeface="Times New Roman" panose="02020603050405020304" pitchFamily="18" charset="0"/>
          </a:endParaRPr>
        </a:p>
      </dgm:t>
    </dgm:pt>
    <dgm:pt modelId="{FF7B3691-CFFD-4F2B-89CB-CDC6A42A9117}" type="parTrans" cxnId="{48EA755B-F6D2-4E93-9AD7-44D32C32175B}">
      <dgm:prSet/>
      <dgm:spPr/>
      <dgm:t>
        <a:bodyPr/>
        <a:lstStyle/>
        <a:p>
          <a:endParaRPr lang="en-US"/>
        </a:p>
      </dgm:t>
    </dgm:pt>
    <dgm:pt modelId="{4CF983F8-A278-40BD-BC0D-C70610B1D870}" type="sibTrans" cxnId="{48EA755B-F6D2-4E93-9AD7-44D32C32175B}">
      <dgm:prSet/>
      <dgm:spPr/>
      <dgm:t>
        <a:bodyPr/>
        <a:lstStyle/>
        <a:p>
          <a:endParaRPr lang="en-US"/>
        </a:p>
      </dgm:t>
    </dgm:pt>
    <dgm:pt modelId="{D610ED89-638F-4716-BD0A-DF71726D5551}">
      <dgm:prSet/>
      <dgm:spPr/>
      <dgm:t>
        <a:bodyPr/>
        <a:lstStyle/>
        <a:p>
          <a:r>
            <a:rPr lang="en-US"/>
            <a:t>Step 2</a:t>
          </a:r>
        </a:p>
      </dgm:t>
    </dgm:pt>
    <dgm:pt modelId="{7FB1D790-10EA-4363-A918-FF0FD601558C}" type="parTrans" cxnId="{39B27E9D-4C8B-4AF5-A464-6508351846F1}">
      <dgm:prSet/>
      <dgm:spPr/>
      <dgm:t>
        <a:bodyPr/>
        <a:lstStyle/>
        <a:p>
          <a:endParaRPr lang="en-US"/>
        </a:p>
      </dgm:t>
    </dgm:pt>
    <dgm:pt modelId="{1D5951E0-348B-41B9-B98B-393B87F2D50A}" type="sibTrans" cxnId="{39B27E9D-4C8B-4AF5-A464-6508351846F1}">
      <dgm:prSet/>
      <dgm:spPr/>
      <dgm:t>
        <a:bodyPr/>
        <a:lstStyle/>
        <a:p>
          <a:endParaRPr lang="en-US"/>
        </a:p>
      </dgm:t>
    </dgm:pt>
    <dgm:pt modelId="{0D1E1E27-82CA-41D5-9B41-4CE86FAC852E}">
      <dgm:prSet custT="1"/>
      <dgm:spPr/>
      <dgm:t>
        <a:bodyPr/>
        <a:lstStyle/>
        <a:p>
          <a:r>
            <a:rPr lang="en-US" sz="1600" dirty="0">
              <a:latin typeface="Times New Roman" panose="02020603050405020304" pitchFamily="18" charset="0"/>
              <a:cs typeface="Times New Roman" panose="02020603050405020304" pitchFamily="18" charset="0"/>
            </a:rPr>
            <a:t>We preprocess the data which is collected through sources like using stain normalization, patch extraction and data augmentation.</a:t>
          </a:r>
        </a:p>
      </dgm:t>
    </dgm:pt>
    <dgm:pt modelId="{8D890A82-9841-4427-BAD8-BB35D5CF0EA5}" type="parTrans" cxnId="{44421614-120A-4780-952D-54497DBB42ED}">
      <dgm:prSet/>
      <dgm:spPr/>
      <dgm:t>
        <a:bodyPr/>
        <a:lstStyle/>
        <a:p>
          <a:endParaRPr lang="en-US"/>
        </a:p>
      </dgm:t>
    </dgm:pt>
    <dgm:pt modelId="{08AB264C-69F7-4285-9E14-E43C11385752}" type="sibTrans" cxnId="{44421614-120A-4780-952D-54497DBB42ED}">
      <dgm:prSet/>
      <dgm:spPr/>
      <dgm:t>
        <a:bodyPr/>
        <a:lstStyle/>
        <a:p>
          <a:endParaRPr lang="en-US"/>
        </a:p>
      </dgm:t>
    </dgm:pt>
    <dgm:pt modelId="{CF4DC95C-4970-42B3-A322-496294BAE48D}">
      <dgm:prSet/>
      <dgm:spPr/>
      <dgm:t>
        <a:bodyPr/>
        <a:lstStyle/>
        <a:p>
          <a:r>
            <a:rPr lang="en-US"/>
            <a:t>Step 3</a:t>
          </a:r>
        </a:p>
      </dgm:t>
    </dgm:pt>
    <dgm:pt modelId="{16B00682-E294-46FB-B3F9-BC111E4135BC}" type="parTrans" cxnId="{61A13AEC-E7F6-4371-9B3C-D229F1D6B5C5}">
      <dgm:prSet/>
      <dgm:spPr/>
      <dgm:t>
        <a:bodyPr/>
        <a:lstStyle/>
        <a:p>
          <a:endParaRPr lang="en-US"/>
        </a:p>
      </dgm:t>
    </dgm:pt>
    <dgm:pt modelId="{ABFACD7A-CFAF-4862-BB02-AC2A480CB979}" type="sibTrans" cxnId="{61A13AEC-E7F6-4371-9B3C-D229F1D6B5C5}">
      <dgm:prSet/>
      <dgm:spPr/>
      <dgm:t>
        <a:bodyPr/>
        <a:lstStyle/>
        <a:p>
          <a:endParaRPr lang="en-US"/>
        </a:p>
      </dgm:t>
    </dgm:pt>
    <dgm:pt modelId="{FF331CDF-855B-4173-9A70-BF7C7C7A45AA}">
      <dgm:prSet custT="1"/>
      <dgm:spPr/>
      <dgm:t>
        <a:bodyPr/>
        <a:lstStyle/>
        <a:p>
          <a:r>
            <a:rPr lang="en-US" sz="1600" dirty="0">
              <a:latin typeface="Times New Roman" panose="02020603050405020304" pitchFamily="18" charset="0"/>
              <a:cs typeface="Times New Roman" panose="02020603050405020304" pitchFamily="18" charset="0"/>
            </a:rPr>
            <a:t>We take input layers, convolutional layers and we take </a:t>
          </a:r>
          <a:r>
            <a:rPr lang="en-US" sz="1600" dirty="0" err="1">
              <a:latin typeface="Times New Roman" panose="02020603050405020304" pitchFamily="18" charset="0"/>
              <a:cs typeface="Times New Roman" panose="02020603050405020304" pitchFamily="18" charset="0"/>
            </a:rPr>
            <a:t>ReLu</a:t>
          </a:r>
          <a:r>
            <a:rPr lang="en-US" sz="1600" dirty="0">
              <a:latin typeface="Times New Roman" panose="02020603050405020304" pitchFamily="18" charset="0"/>
              <a:cs typeface="Times New Roman" panose="02020603050405020304" pitchFamily="18" charset="0"/>
            </a:rPr>
            <a:t> as activation functions. Then we add pooling layers to reduce spatial dimensions. And fully connected layer. At last output layer.</a:t>
          </a:r>
        </a:p>
      </dgm:t>
    </dgm:pt>
    <dgm:pt modelId="{0D12DB5C-BA05-47E4-B00C-F945B57C60F8}" type="parTrans" cxnId="{DB133841-4C22-43B9-9C8F-B0B0F1022A51}">
      <dgm:prSet/>
      <dgm:spPr/>
      <dgm:t>
        <a:bodyPr/>
        <a:lstStyle/>
        <a:p>
          <a:endParaRPr lang="en-US"/>
        </a:p>
      </dgm:t>
    </dgm:pt>
    <dgm:pt modelId="{B9F51368-D885-4CD4-9A93-689146EFA290}" type="sibTrans" cxnId="{DB133841-4C22-43B9-9C8F-B0B0F1022A51}">
      <dgm:prSet/>
      <dgm:spPr/>
      <dgm:t>
        <a:bodyPr/>
        <a:lstStyle/>
        <a:p>
          <a:endParaRPr lang="en-US"/>
        </a:p>
      </dgm:t>
    </dgm:pt>
    <dgm:pt modelId="{D032B980-8EA0-45C4-94CD-11681523ED9B}">
      <dgm:prSet/>
      <dgm:spPr/>
      <dgm:t>
        <a:bodyPr/>
        <a:lstStyle/>
        <a:p>
          <a:r>
            <a:rPr lang="en-US"/>
            <a:t>Step 4</a:t>
          </a:r>
        </a:p>
      </dgm:t>
    </dgm:pt>
    <dgm:pt modelId="{01EC26F4-0092-474A-A7DB-3061A1C71497}" type="parTrans" cxnId="{E844F8B4-2E87-409D-8D59-EF8A996CD68E}">
      <dgm:prSet/>
      <dgm:spPr/>
      <dgm:t>
        <a:bodyPr/>
        <a:lstStyle/>
        <a:p>
          <a:endParaRPr lang="en-US"/>
        </a:p>
      </dgm:t>
    </dgm:pt>
    <dgm:pt modelId="{148346F7-A47A-48D9-9326-7C1CBF78CEE7}" type="sibTrans" cxnId="{E844F8B4-2E87-409D-8D59-EF8A996CD68E}">
      <dgm:prSet/>
      <dgm:spPr/>
      <dgm:t>
        <a:bodyPr/>
        <a:lstStyle/>
        <a:p>
          <a:endParaRPr lang="en-US"/>
        </a:p>
      </dgm:t>
    </dgm:pt>
    <dgm:pt modelId="{A4127645-66A7-4D14-A962-F106C8024E5E}">
      <dgm:prSet custT="1"/>
      <dgm:spPr/>
      <dgm:t>
        <a:bodyPr/>
        <a:lstStyle/>
        <a:p>
          <a:r>
            <a:rPr lang="en-US" sz="1600" dirty="0">
              <a:latin typeface="Times New Roman" panose="02020603050405020304" pitchFamily="18" charset="0"/>
              <a:cs typeface="Times New Roman" panose="02020603050405020304" pitchFamily="18" charset="0"/>
            </a:rPr>
            <a:t>We train the model using activation functions, optimizers and scheduling the learning rate to the model.</a:t>
          </a:r>
        </a:p>
      </dgm:t>
    </dgm:pt>
    <dgm:pt modelId="{1425AA94-0E14-4E88-859D-335681E52552}" type="parTrans" cxnId="{6DA8AE73-FEB7-45F1-BEA4-9095738EF64A}">
      <dgm:prSet/>
      <dgm:spPr/>
      <dgm:t>
        <a:bodyPr/>
        <a:lstStyle/>
        <a:p>
          <a:endParaRPr lang="en-US"/>
        </a:p>
      </dgm:t>
    </dgm:pt>
    <dgm:pt modelId="{01DDBEC6-EBD4-467B-8EDC-BB1B59B8ECD1}" type="sibTrans" cxnId="{6DA8AE73-FEB7-45F1-BEA4-9095738EF64A}">
      <dgm:prSet/>
      <dgm:spPr/>
      <dgm:t>
        <a:bodyPr/>
        <a:lstStyle/>
        <a:p>
          <a:endParaRPr lang="en-US"/>
        </a:p>
      </dgm:t>
    </dgm:pt>
    <dgm:pt modelId="{8D77AF8C-F19A-4226-AE34-79F79F00CAA1}">
      <dgm:prSet/>
      <dgm:spPr/>
      <dgm:t>
        <a:bodyPr/>
        <a:lstStyle/>
        <a:p>
          <a:r>
            <a:rPr lang="en-US" dirty="0"/>
            <a:t>Step 5</a:t>
          </a:r>
        </a:p>
      </dgm:t>
    </dgm:pt>
    <dgm:pt modelId="{F91A3FB7-F705-44CB-8B02-783CBE2F6024}" type="parTrans" cxnId="{1AF4D3C2-61B6-4483-9114-9064A690FA07}">
      <dgm:prSet/>
      <dgm:spPr/>
      <dgm:t>
        <a:bodyPr/>
        <a:lstStyle/>
        <a:p>
          <a:endParaRPr lang="en-US"/>
        </a:p>
      </dgm:t>
    </dgm:pt>
    <dgm:pt modelId="{7F6FFC55-3ABF-477B-8D0A-31BF8F0D97F8}" type="sibTrans" cxnId="{1AF4D3C2-61B6-4483-9114-9064A690FA07}">
      <dgm:prSet/>
      <dgm:spPr/>
      <dgm:t>
        <a:bodyPr/>
        <a:lstStyle/>
        <a:p>
          <a:endParaRPr lang="en-US"/>
        </a:p>
      </dgm:t>
    </dgm:pt>
    <dgm:pt modelId="{A7A6DF71-F1C4-4BB3-98DA-F3752204B3FF}">
      <dgm:prSet custT="1"/>
      <dgm:spPr/>
      <dgm:t>
        <a:bodyPr/>
        <a:lstStyle/>
        <a:p>
          <a:r>
            <a:rPr lang="en-US" sz="1600" dirty="0">
              <a:latin typeface="Times New Roman" panose="02020603050405020304" pitchFamily="18" charset="0"/>
              <a:cs typeface="Times New Roman" panose="02020603050405020304" pitchFamily="18" charset="0"/>
            </a:rPr>
            <a:t>Finally we test the model using performance scores like accuracy, Roc-</a:t>
          </a:r>
          <a:r>
            <a:rPr lang="en-US" sz="1600" dirty="0" err="1">
              <a:latin typeface="Times New Roman" panose="02020603050405020304" pitchFamily="18" charset="0"/>
              <a:cs typeface="Times New Roman" panose="02020603050405020304" pitchFamily="18" charset="0"/>
            </a:rPr>
            <a:t>Auc</a:t>
          </a:r>
          <a:r>
            <a:rPr lang="en-US" sz="1600" dirty="0">
              <a:latin typeface="Times New Roman" panose="02020603050405020304" pitchFamily="18" charset="0"/>
              <a:cs typeface="Times New Roman" panose="02020603050405020304" pitchFamily="18" charset="0"/>
            </a:rPr>
            <a:t> , precision , recall , F1 score and confusion matrix.</a:t>
          </a:r>
        </a:p>
      </dgm:t>
    </dgm:pt>
    <dgm:pt modelId="{2B90D3B0-87D6-42C3-89AD-5E0510E15EE7}" type="parTrans" cxnId="{9C336E40-2074-461A-BAFB-D5EDDD098D9B}">
      <dgm:prSet/>
      <dgm:spPr/>
      <dgm:t>
        <a:bodyPr/>
        <a:lstStyle/>
        <a:p>
          <a:endParaRPr lang="en-US"/>
        </a:p>
      </dgm:t>
    </dgm:pt>
    <dgm:pt modelId="{7AAAEBEA-E194-4043-9B72-5AB2895C9CD3}" type="sibTrans" cxnId="{9C336E40-2074-461A-BAFB-D5EDDD098D9B}">
      <dgm:prSet/>
      <dgm:spPr/>
      <dgm:t>
        <a:bodyPr/>
        <a:lstStyle/>
        <a:p>
          <a:endParaRPr lang="en-US"/>
        </a:p>
      </dgm:t>
    </dgm:pt>
    <dgm:pt modelId="{8CBE272C-DFEC-3E45-AFDE-7830A02CF440}" type="pres">
      <dgm:prSet presAssocID="{054F5539-A4B2-4FEE-A14D-FA1C40DA1A04}" presName="Name0" presStyleCnt="0">
        <dgm:presLayoutVars>
          <dgm:dir/>
          <dgm:animLvl val="lvl"/>
          <dgm:resizeHandles val="exact"/>
        </dgm:presLayoutVars>
      </dgm:prSet>
      <dgm:spPr/>
    </dgm:pt>
    <dgm:pt modelId="{C8D06AD8-D842-F045-8085-F43473BC625B}" type="pres">
      <dgm:prSet presAssocID="{8D77AF8C-F19A-4226-AE34-79F79F00CAA1}" presName="boxAndChildren" presStyleCnt="0"/>
      <dgm:spPr/>
    </dgm:pt>
    <dgm:pt modelId="{A4A5C01C-9CEA-7542-A9DA-F0BCE5A9D71E}" type="pres">
      <dgm:prSet presAssocID="{8D77AF8C-F19A-4226-AE34-79F79F00CAA1}" presName="parentTextBox" presStyleLbl="alignNode1" presStyleIdx="0" presStyleCnt="5"/>
      <dgm:spPr/>
    </dgm:pt>
    <dgm:pt modelId="{A4DCEA11-1C52-B84D-831C-C6E82835E69F}" type="pres">
      <dgm:prSet presAssocID="{8D77AF8C-F19A-4226-AE34-79F79F00CAA1}" presName="descendantBox" presStyleLbl="bgAccFollowNode1" presStyleIdx="0" presStyleCnt="5"/>
      <dgm:spPr/>
    </dgm:pt>
    <dgm:pt modelId="{1452FA4D-1DEA-5342-8F11-F68942AE28AB}" type="pres">
      <dgm:prSet presAssocID="{148346F7-A47A-48D9-9326-7C1CBF78CEE7}" presName="sp" presStyleCnt="0"/>
      <dgm:spPr/>
    </dgm:pt>
    <dgm:pt modelId="{0ACC7AC5-BA94-A648-A5C7-13337D94E2F6}" type="pres">
      <dgm:prSet presAssocID="{D032B980-8EA0-45C4-94CD-11681523ED9B}" presName="arrowAndChildren" presStyleCnt="0"/>
      <dgm:spPr/>
    </dgm:pt>
    <dgm:pt modelId="{ED15DB2C-D5D3-F044-9CF3-AF03D8CA1D4B}" type="pres">
      <dgm:prSet presAssocID="{D032B980-8EA0-45C4-94CD-11681523ED9B}" presName="parentTextArrow" presStyleLbl="node1" presStyleIdx="0" presStyleCnt="0"/>
      <dgm:spPr/>
    </dgm:pt>
    <dgm:pt modelId="{8C01F75D-600F-D849-A747-509E8DF8D7E6}" type="pres">
      <dgm:prSet presAssocID="{D032B980-8EA0-45C4-94CD-11681523ED9B}" presName="arrow" presStyleLbl="alignNode1" presStyleIdx="1" presStyleCnt="5"/>
      <dgm:spPr/>
    </dgm:pt>
    <dgm:pt modelId="{CE355F69-3EFD-FC43-B36A-0B710B93612D}" type="pres">
      <dgm:prSet presAssocID="{D032B980-8EA0-45C4-94CD-11681523ED9B}" presName="descendantArrow" presStyleLbl="bgAccFollowNode1" presStyleIdx="1" presStyleCnt="5"/>
      <dgm:spPr/>
    </dgm:pt>
    <dgm:pt modelId="{18F2BC71-4D0B-0C4E-8099-0F0767B00F21}" type="pres">
      <dgm:prSet presAssocID="{ABFACD7A-CFAF-4862-BB02-AC2A480CB979}" presName="sp" presStyleCnt="0"/>
      <dgm:spPr/>
    </dgm:pt>
    <dgm:pt modelId="{6CB34CEA-60BF-1A4C-B4E7-3AA96A152836}" type="pres">
      <dgm:prSet presAssocID="{CF4DC95C-4970-42B3-A322-496294BAE48D}" presName="arrowAndChildren" presStyleCnt="0"/>
      <dgm:spPr/>
    </dgm:pt>
    <dgm:pt modelId="{10977552-9294-7341-AEB9-BE68B0473891}" type="pres">
      <dgm:prSet presAssocID="{CF4DC95C-4970-42B3-A322-496294BAE48D}" presName="parentTextArrow" presStyleLbl="node1" presStyleIdx="0" presStyleCnt="0"/>
      <dgm:spPr/>
    </dgm:pt>
    <dgm:pt modelId="{176FB10E-67F2-244A-9C51-F1A5D4E7014B}" type="pres">
      <dgm:prSet presAssocID="{CF4DC95C-4970-42B3-A322-496294BAE48D}" presName="arrow" presStyleLbl="alignNode1" presStyleIdx="2" presStyleCnt="5"/>
      <dgm:spPr/>
    </dgm:pt>
    <dgm:pt modelId="{B5ADD037-1B52-0741-85DE-261FBD030161}" type="pres">
      <dgm:prSet presAssocID="{CF4DC95C-4970-42B3-A322-496294BAE48D}" presName="descendantArrow" presStyleLbl="bgAccFollowNode1" presStyleIdx="2" presStyleCnt="5" custScaleY="119624"/>
      <dgm:spPr/>
    </dgm:pt>
    <dgm:pt modelId="{E0985A41-6445-5346-A233-1C098977BC8B}" type="pres">
      <dgm:prSet presAssocID="{1D5951E0-348B-41B9-B98B-393B87F2D50A}" presName="sp" presStyleCnt="0"/>
      <dgm:spPr/>
    </dgm:pt>
    <dgm:pt modelId="{0696557E-84D9-4845-BB42-819641E758FC}" type="pres">
      <dgm:prSet presAssocID="{D610ED89-638F-4716-BD0A-DF71726D5551}" presName="arrowAndChildren" presStyleCnt="0"/>
      <dgm:spPr/>
    </dgm:pt>
    <dgm:pt modelId="{67523CA7-E1FC-C74E-830E-94853D532541}" type="pres">
      <dgm:prSet presAssocID="{D610ED89-638F-4716-BD0A-DF71726D5551}" presName="parentTextArrow" presStyleLbl="node1" presStyleIdx="0" presStyleCnt="0"/>
      <dgm:spPr/>
    </dgm:pt>
    <dgm:pt modelId="{65CC2DDA-74B7-1C40-9934-246CA94A0A05}" type="pres">
      <dgm:prSet presAssocID="{D610ED89-638F-4716-BD0A-DF71726D5551}" presName="arrow" presStyleLbl="alignNode1" presStyleIdx="3" presStyleCnt="5"/>
      <dgm:spPr/>
    </dgm:pt>
    <dgm:pt modelId="{64E655E2-8A0E-AC40-BEC2-54C12707DA08}" type="pres">
      <dgm:prSet presAssocID="{D610ED89-638F-4716-BD0A-DF71726D5551}" presName="descendantArrow" presStyleLbl="bgAccFollowNode1" presStyleIdx="3" presStyleCnt="5"/>
      <dgm:spPr/>
    </dgm:pt>
    <dgm:pt modelId="{C97009CD-0E4D-F94E-AE4A-6A7E84864B1E}" type="pres">
      <dgm:prSet presAssocID="{57C530ED-327E-4F53-9E8B-4490FF5CD35C}" presName="sp" presStyleCnt="0"/>
      <dgm:spPr/>
    </dgm:pt>
    <dgm:pt modelId="{72B03B82-A775-DD47-94DD-2948BCDE37F9}" type="pres">
      <dgm:prSet presAssocID="{9B453CB0-161B-4585-9690-EF5C96AC0561}" presName="arrowAndChildren" presStyleCnt="0"/>
      <dgm:spPr/>
    </dgm:pt>
    <dgm:pt modelId="{6792E3CC-CC2C-2F42-9E59-6B2599D9ED15}" type="pres">
      <dgm:prSet presAssocID="{9B453CB0-161B-4585-9690-EF5C96AC0561}" presName="parentTextArrow" presStyleLbl="node1" presStyleIdx="0" presStyleCnt="0"/>
      <dgm:spPr/>
    </dgm:pt>
    <dgm:pt modelId="{772BFCBB-F9A7-754D-A415-B99AFA81DF30}" type="pres">
      <dgm:prSet presAssocID="{9B453CB0-161B-4585-9690-EF5C96AC0561}" presName="arrow" presStyleLbl="alignNode1" presStyleIdx="4" presStyleCnt="5"/>
      <dgm:spPr/>
    </dgm:pt>
    <dgm:pt modelId="{D5C2C13A-A3EF-644D-B983-85DA242B99E6}" type="pres">
      <dgm:prSet presAssocID="{9B453CB0-161B-4585-9690-EF5C96AC0561}" presName="descendantArrow" presStyleLbl="bgAccFollowNode1" presStyleIdx="4" presStyleCnt="5"/>
      <dgm:spPr/>
    </dgm:pt>
  </dgm:ptLst>
  <dgm:cxnLst>
    <dgm:cxn modelId="{44421614-120A-4780-952D-54497DBB42ED}" srcId="{D610ED89-638F-4716-BD0A-DF71726D5551}" destId="{0D1E1E27-82CA-41D5-9B41-4CE86FAC852E}" srcOrd="0" destOrd="0" parTransId="{8D890A82-9841-4427-BAD8-BB35D5CF0EA5}" sibTransId="{08AB264C-69F7-4285-9E14-E43C11385752}"/>
    <dgm:cxn modelId="{7FFCEC18-DC7C-6349-A61D-F8FFA8BFEAF5}" type="presOf" srcId="{0D1E1E27-82CA-41D5-9B41-4CE86FAC852E}" destId="{64E655E2-8A0E-AC40-BEC2-54C12707DA08}" srcOrd="0" destOrd="0" presId="urn:microsoft.com/office/officeart/2016/7/layout/VerticalDownArrowProcess"/>
    <dgm:cxn modelId="{6CD47019-DEBA-CA4C-96D0-391B54E7E6B4}" type="presOf" srcId="{D610ED89-638F-4716-BD0A-DF71726D5551}" destId="{65CC2DDA-74B7-1C40-9934-246CA94A0A05}" srcOrd="1" destOrd="0" presId="urn:microsoft.com/office/officeart/2016/7/layout/VerticalDownArrowProcess"/>
    <dgm:cxn modelId="{5F9DC12A-E59A-D84C-9FC3-65397C6983C0}" type="presOf" srcId="{D032B980-8EA0-45C4-94CD-11681523ED9B}" destId="{8C01F75D-600F-D849-A747-509E8DF8D7E6}" srcOrd="1" destOrd="0" presId="urn:microsoft.com/office/officeart/2016/7/layout/VerticalDownArrowProcess"/>
    <dgm:cxn modelId="{74A7543A-BFD4-7348-8EB3-4B21B550ABD5}" type="presOf" srcId="{D610ED89-638F-4716-BD0A-DF71726D5551}" destId="{67523CA7-E1FC-C74E-830E-94853D532541}" srcOrd="0" destOrd="0" presId="urn:microsoft.com/office/officeart/2016/7/layout/VerticalDownArrowProcess"/>
    <dgm:cxn modelId="{4D9D803C-85CC-1C4D-BF3F-51C92B250430}" type="presOf" srcId="{FF331CDF-855B-4173-9A70-BF7C7C7A45AA}" destId="{B5ADD037-1B52-0741-85DE-261FBD030161}" srcOrd="0" destOrd="0" presId="urn:microsoft.com/office/officeart/2016/7/layout/VerticalDownArrowProcess"/>
    <dgm:cxn modelId="{9C336E40-2074-461A-BAFB-D5EDDD098D9B}" srcId="{8D77AF8C-F19A-4226-AE34-79F79F00CAA1}" destId="{A7A6DF71-F1C4-4BB3-98DA-F3752204B3FF}" srcOrd="0" destOrd="0" parTransId="{2B90D3B0-87D6-42C3-89AD-5E0510E15EE7}" sibTransId="{7AAAEBEA-E194-4043-9B72-5AB2895C9CD3}"/>
    <dgm:cxn modelId="{48EA755B-F6D2-4E93-9AD7-44D32C32175B}" srcId="{9B453CB0-161B-4585-9690-EF5C96AC0561}" destId="{87A60A5B-482C-4AD5-A6E5-D153689F4441}" srcOrd="0" destOrd="0" parTransId="{FF7B3691-CFFD-4F2B-89CB-CDC6A42A9117}" sibTransId="{4CF983F8-A278-40BD-BC0D-C70610B1D870}"/>
    <dgm:cxn modelId="{DB133841-4C22-43B9-9C8F-B0B0F1022A51}" srcId="{CF4DC95C-4970-42B3-A322-496294BAE48D}" destId="{FF331CDF-855B-4173-9A70-BF7C7C7A45AA}" srcOrd="0" destOrd="0" parTransId="{0D12DB5C-BA05-47E4-B00C-F945B57C60F8}" sibTransId="{B9F51368-D885-4CD4-9A93-689146EFA290}"/>
    <dgm:cxn modelId="{13428E48-266C-7D45-B16B-93523EA24303}" type="presOf" srcId="{87A60A5B-482C-4AD5-A6E5-D153689F4441}" destId="{D5C2C13A-A3EF-644D-B983-85DA242B99E6}" srcOrd="0" destOrd="0" presId="urn:microsoft.com/office/officeart/2016/7/layout/VerticalDownArrowProcess"/>
    <dgm:cxn modelId="{F2AC0569-737A-014E-B5BA-33DBCDAD2A76}" type="presOf" srcId="{9B453CB0-161B-4585-9690-EF5C96AC0561}" destId="{6792E3CC-CC2C-2F42-9E59-6B2599D9ED15}" srcOrd="0" destOrd="0" presId="urn:microsoft.com/office/officeart/2016/7/layout/VerticalDownArrowProcess"/>
    <dgm:cxn modelId="{BD911551-34B3-2046-AAFC-B3AF9D609CFC}" type="presOf" srcId="{8D77AF8C-F19A-4226-AE34-79F79F00CAA1}" destId="{A4A5C01C-9CEA-7542-A9DA-F0BCE5A9D71E}" srcOrd="0" destOrd="0" presId="urn:microsoft.com/office/officeart/2016/7/layout/VerticalDownArrowProcess"/>
    <dgm:cxn modelId="{6DA8AE73-FEB7-45F1-BEA4-9095738EF64A}" srcId="{D032B980-8EA0-45C4-94CD-11681523ED9B}" destId="{A4127645-66A7-4D14-A962-F106C8024E5E}" srcOrd="0" destOrd="0" parTransId="{1425AA94-0E14-4E88-859D-335681E52552}" sibTransId="{01DDBEC6-EBD4-467B-8EDC-BB1B59B8ECD1}"/>
    <dgm:cxn modelId="{2B62F086-753D-714F-9224-3BBC13D86377}" type="presOf" srcId="{A4127645-66A7-4D14-A962-F106C8024E5E}" destId="{CE355F69-3EFD-FC43-B36A-0B710B93612D}" srcOrd="0" destOrd="0" presId="urn:microsoft.com/office/officeart/2016/7/layout/VerticalDownArrowProcess"/>
    <dgm:cxn modelId="{B953D293-8406-AC4E-B9F7-6D866C5BC113}" type="presOf" srcId="{A7A6DF71-F1C4-4BB3-98DA-F3752204B3FF}" destId="{A4DCEA11-1C52-B84D-831C-C6E82835E69F}" srcOrd="0" destOrd="0" presId="urn:microsoft.com/office/officeart/2016/7/layout/VerticalDownArrowProcess"/>
    <dgm:cxn modelId="{39B27E9D-4C8B-4AF5-A464-6508351846F1}" srcId="{054F5539-A4B2-4FEE-A14D-FA1C40DA1A04}" destId="{D610ED89-638F-4716-BD0A-DF71726D5551}" srcOrd="1" destOrd="0" parTransId="{7FB1D790-10EA-4363-A918-FF0FD601558C}" sibTransId="{1D5951E0-348B-41B9-B98B-393B87F2D50A}"/>
    <dgm:cxn modelId="{C1DEE7A4-80F1-6049-A5E5-743A22D3F4A6}" type="presOf" srcId="{CF4DC95C-4970-42B3-A322-496294BAE48D}" destId="{176FB10E-67F2-244A-9C51-F1A5D4E7014B}" srcOrd="1" destOrd="0" presId="urn:microsoft.com/office/officeart/2016/7/layout/VerticalDownArrowProcess"/>
    <dgm:cxn modelId="{F94392AE-4D3C-4412-B053-476917C9251E}" srcId="{054F5539-A4B2-4FEE-A14D-FA1C40DA1A04}" destId="{9B453CB0-161B-4585-9690-EF5C96AC0561}" srcOrd="0" destOrd="0" parTransId="{FA693E23-FB71-4DFC-B4CC-0E8A44700A6B}" sibTransId="{57C530ED-327E-4F53-9E8B-4490FF5CD35C}"/>
    <dgm:cxn modelId="{E844F8B4-2E87-409D-8D59-EF8A996CD68E}" srcId="{054F5539-A4B2-4FEE-A14D-FA1C40DA1A04}" destId="{D032B980-8EA0-45C4-94CD-11681523ED9B}" srcOrd="3" destOrd="0" parTransId="{01EC26F4-0092-474A-A7DB-3061A1C71497}" sibTransId="{148346F7-A47A-48D9-9326-7C1CBF78CEE7}"/>
    <dgm:cxn modelId="{15E69BBE-9288-C546-9B8C-984CB5E61162}" type="presOf" srcId="{D032B980-8EA0-45C4-94CD-11681523ED9B}" destId="{ED15DB2C-D5D3-F044-9CF3-AF03D8CA1D4B}" srcOrd="0" destOrd="0" presId="urn:microsoft.com/office/officeart/2016/7/layout/VerticalDownArrowProcess"/>
    <dgm:cxn modelId="{1AF4D3C2-61B6-4483-9114-9064A690FA07}" srcId="{054F5539-A4B2-4FEE-A14D-FA1C40DA1A04}" destId="{8D77AF8C-F19A-4226-AE34-79F79F00CAA1}" srcOrd="4" destOrd="0" parTransId="{F91A3FB7-F705-44CB-8B02-783CBE2F6024}" sibTransId="{7F6FFC55-3ABF-477B-8D0A-31BF8F0D97F8}"/>
    <dgm:cxn modelId="{99B4C5DE-19AF-6440-92FE-CCBB9E4A0F1F}" type="presOf" srcId="{CF4DC95C-4970-42B3-A322-496294BAE48D}" destId="{10977552-9294-7341-AEB9-BE68B0473891}" srcOrd="0" destOrd="0" presId="urn:microsoft.com/office/officeart/2016/7/layout/VerticalDownArrowProcess"/>
    <dgm:cxn modelId="{61A13AEC-E7F6-4371-9B3C-D229F1D6B5C5}" srcId="{054F5539-A4B2-4FEE-A14D-FA1C40DA1A04}" destId="{CF4DC95C-4970-42B3-A322-496294BAE48D}" srcOrd="2" destOrd="0" parTransId="{16B00682-E294-46FB-B3F9-BC111E4135BC}" sibTransId="{ABFACD7A-CFAF-4862-BB02-AC2A480CB979}"/>
    <dgm:cxn modelId="{167C3AF1-3DE2-354D-B7C4-C582ABF63376}" type="presOf" srcId="{054F5539-A4B2-4FEE-A14D-FA1C40DA1A04}" destId="{8CBE272C-DFEC-3E45-AFDE-7830A02CF440}" srcOrd="0" destOrd="0" presId="urn:microsoft.com/office/officeart/2016/7/layout/VerticalDownArrowProcess"/>
    <dgm:cxn modelId="{088353FB-61F2-ED48-A113-226A59201F22}" type="presOf" srcId="{9B453CB0-161B-4585-9690-EF5C96AC0561}" destId="{772BFCBB-F9A7-754D-A415-B99AFA81DF30}" srcOrd="1" destOrd="0" presId="urn:microsoft.com/office/officeart/2016/7/layout/VerticalDownArrowProcess"/>
    <dgm:cxn modelId="{423117E8-9C13-BE46-8555-C320AB2E7B75}" type="presParOf" srcId="{8CBE272C-DFEC-3E45-AFDE-7830A02CF440}" destId="{C8D06AD8-D842-F045-8085-F43473BC625B}" srcOrd="0" destOrd="0" presId="urn:microsoft.com/office/officeart/2016/7/layout/VerticalDownArrowProcess"/>
    <dgm:cxn modelId="{AE909291-26E6-B049-BB0A-315D88078BAC}" type="presParOf" srcId="{C8D06AD8-D842-F045-8085-F43473BC625B}" destId="{A4A5C01C-9CEA-7542-A9DA-F0BCE5A9D71E}" srcOrd="0" destOrd="0" presId="urn:microsoft.com/office/officeart/2016/7/layout/VerticalDownArrowProcess"/>
    <dgm:cxn modelId="{37BC5EF8-4C31-AA4F-8B00-9A9777789878}" type="presParOf" srcId="{C8D06AD8-D842-F045-8085-F43473BC625B}" destId="{A4DCEA11-1C52-B84D-831C-C6E82835E69F}" srcOrd="1" destOrd="0" presId="urn:microsoft.com/office/officeart/2016/7/layout/VerticalDownArrowProcess"/>
    <dgm:cxn modelId="{BBB5C562-D24C-A14D-80EF-62DAE19CDEBA}" type="presParOf" srcId="{8CBE272C-DFEC-3E45-AFDE-7830A02CF440}" destId="{1452FA4D-1DEA-5342-8F11-F68942AE28AB}" srcOrd="1" destOrd="0" presId="urn:microsoft.com/office/officeart/2016/7/layout/VerticalDownArrowProcess"/>
    <dgm:cxn modelId="{CA9BCB70-E196-4E40-AB76-726B2C1749CD}" type="presParOf" srcId="{8CBE272C-DFEC-3E45-AFDE-7830A02CF440}" destId="{0ACC7AC5-BA94-A648-A5C7-13337D94E2F6}" srcOrd="2" destOrd="0" presId="urn:microsoft.com/office/officeart/2016/7/layout/VerticalDownArrowProcess"/>
    <dgm:cxn modelId="{85DD962C-26A9-A149-9428-E9E0C9092DFA}" type="presParOf" srcId="{0ACC7AC5-BA94-A648-A5C7-13337D94E2F6}" destId="{ED15DB2C-D5D3-F044-9CF3-AF03D8CA1D4B}" srcOrd="0" destOrd="0" presId="urn:microsoft.com/office/officeart/2016/7/layout/VerticalDownArrowProcess"/>
    <dgm:cxn modelId="{E0E0A927-EEFF-6948-9576-E8B05FE1D87B}" type="presParOf" srcId="{0ACC7AC5-BA94-A648-A5C7-13337D94E2F6}" destId="{8C01F75D-600F-D849-A747-509E8DF8D7E6}" srcOrd="1" destOrd="0" presId="urn:microsoft.com/office/officeart/2016/7/layout/VerticalDownArrowProcess"/>
    <dgm:cxn modelId="{D822B4EF-00AE-CB4C-A528-3C5720674C38}" type="presParOf" srcId="{0ACC7AC5-BA94-A648-A5C7-13337D94E2F6}" destId="{CE355F69-3EFD-FC43-B36A-0B710B93612D}" srcOrd="2" destOrd="0" presId="urn:microsoft.com/office/officeart/2016/7/layout/VerticalDownArrowProcess"/>
    <dgm:cxn modelId="{9FE2BFF3-D225-3741-9610-012DC89CFF93}" type="presParOf" srcId="{8CBE272C-DFEC-3E45-AFDE-7830A02CF440}" destId="{18F2BC71-4D0B-0C4E-8099-0F0767B00F21}" srcOrd="3" destOrd="0" presId="urn:microsoft.com/office/officeart/2016/7/layout/VerticalDownArrowProcess"/>
    <dgm:cxn modelId="{4A90C656-9F85-9D44-A9C6-3EB3DBD05361}" type="presParOf" srcId="{8CBE272C-DFEC-3E45-AFDE-7830A02CF440}" destId="{6CB34CEA-60BF-1A4C-B4E7-3AA96A152836}" srcOrd="4" destOrd="0" presId="urn:microsoft.com/office/officeart/2016/7/layout/VerticalDownArrowProcess"/>
    <dgm:cxn modelId="{65DB8B3E-450B-F947-812B-C2B0FE33E4A9}" type="presParOf" srcId="{6CB34CEA-60BF-1A4C-B4E7-3AA96A152836}" destId="{10977552-9294-7341-AEB9-BE68B0473891}" srcOrd="0" destOrd="0" presId="urn:microsoft.com/office/officeart/2016/7/layout/VerticalDownArrowProcess"/>
    <dgm:cxn modelId="{D66A5F8F-9EAF-734E-BE83-ABFF1E6FC7D6}" type="presParOf" srcId="{6CB34CEA-60BF-1A4C-B4E7-3AA96A152836}" destId="{176FB10E-67F2-244A-9C51-F1A5D4E7014B}" srcOrd="1" destOrd="0" presId="urn:microsoft.com/office/officeart/2016/7/layout/VerticalDownArrowProcess"/>
    <dgm:cxn modelId="{ACA52874-0FE3-C34F-AD0D-2BA31D44D1A5}" type="presParOf" srcId="{6CB34CEA-60BF-1A4C-B4E7-3AA96A152836}" destId="{B5ADD037-1B52-0741-85DE-261FBD030161}" srcOrd="2" destOrd="0" presId="urn:microsoft.com/office/officeart/2016/7/layout/VerticalDownArrowProcess"/>
    <dgm:cxn modelId="{35F978BB-3FB3-644D-9BB0-5F402E102123}" type="presParOf" srcId="{8CBE272C-DFEC-3E45-AFDE-7830A02CF440}" destId="{E0985A41-6445-5346-A233-1C098977BC8B}" srcOrd="5" destOrd="0" presId="urn:microsoft.com/office/officeart/2016/7/layout/VerticalDownArrowProcess"/>
    <dgm:cxn modelId="{48A7CCA4-B711-004D-9D8A-F6B41ACA8355}" type="presParOf" srcId="{8CBE272C-DFEC-3E45-AFDE-7830A02CF440}" destId="{0696557E-84D9-4845-BB42-819641E758FC}" srcOrd="6" destOrd="0" presId="urn:microsoft.com/office/officeart/2016/7/layout/VerticalDownArrowProcess"/>
    <dgm:cxn modelId="{9C9D7891-ACDC-3944-B3BC-9FF2EC74F4BD}" type="presParOf" srcId="{0696557E-84D9-4845-BB42-819641E758FC}" destId="{67523CA7-E1FC-C74E-830E-94853D532541}" srcOrd="0" destOrd="0" presId="urn:microsoft.com/office/officeart/2016/7/layout/VerticalDownArrowProcess"/>
    <dgm:cxn modelId="{20EB2A0E-D236-D245-A481-E6ECBD395AE3}" type="presParOf" srcId="{0696557E-84D9-4845-BB42-819641E758FC}" destId="{65CC2DDA-74B7-1C40-9934-246CA94A0A05}" srcOrd="1" destOrd="0" presId="urn:microsoft.com/office/officeart/2016/7/layout/VerticalDownArrowProcess"/>
    <dgm:cxn modelId="{89EBFB08-0617-AC46-9E2E-B38DFD0E7431}" type="presParOf" srcId="{0696557E-84D9-4845-BB42-819641E758FC}" destId="{64E655E2-8A0E-AC40-BEC2-54C12707DA08}" srcOrd="2" destOrd="0" presId="urn:microsoft.com/office/officeart/2016/7/layout/VerticalDownArrowProcess"/>
    <dgm:cxn modelId="{43557528-8CC4-5943-BEBD-6DB5F7B1329B}" type="presParOf" srcId="{8CBE272C-DFEC-3E45-AFDE-7830A02CF440}" destId="{C97009CD-0E4D-F94E-AE4A-6A7E84864B1E}" srcOrd="7" destOrd="0" presId="urn:microsoft.com/office/officeart/2016/7/layout/VerticalDownArrowProcess"/>
    <dgm:cxn modelId="{211D1DEE-D741-644D-A88B-ED70CCEC4D94}" type="presParOf" srcId="{8CBE272C-DFEC-3E45-AFDE-7830A02CF440}" destId="{72B03B82-A775-DD47-94DD-2948BCDE37F9}" srcOrd="8" destOrd="0" presId="urn:microsoft.com/office/officeart/2016/7/layout/VerticalDownArrowProcess"/>
    <dgm:cxn modelId="{FFD34B4B-7907-FA40-84CA-072BD93A33E6}" type="presParOf" srcId="{72B03B82-A775-DD47-94DD-2948BCDE37F9}" destId="{6792E3CC-CC2C-2F42-9E59-6B2599D9ED15}" srcOrd="0" destOrd="0" presId="urn:microsoft.com/office/officeart/2016/7/layout/VerticalDownArrowProcess"/>
    <dgm:cxn modelId="{33179923-14BF-324E-A846-76330B0C833E}" type="presParOf" srcId="{72B03B82-A775-DD47-94DD-2948BCDE37F9}" destId="{772BFCBB-F9A7-754D-A415-B99AFA81DF30}" srcOrd="1" destOrd="0" presId="urn:microsoft.com/office/officeart/2016/7/layout/VerticalDownArrowProcess"/>
    <dgm:cxn modelId="{D04118CA-8C74-3042-85C1-1FFF0A18F950}" type="presParOf" srcId="{72B03B82-A775-DD47-94DD-2948BCDE37F9}" destId="{D5C2C13A-A3EF-644D-B983-85DA242B99E6}"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A5C01C-9CEA-7542-A9DA-F0BCE5A9D71E}">
      <dsp:nvSpPr>
        <dsp:cNvPr id="0" name=""/>
        <dsp:cNvSpPr/>
      </dsp:nvSpPr>
      <dsp:spPr>
        <a:xfrm>
          <a:off x="0" y="4283607"/>
          <a:ext cx="1971377" cy="691535"/>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204" tIns="170688" rIns="140204"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Step 5</a:t>
          </a:r>
        </a:p>
      </dsp:txBody>
      <dsp:txXfrm>
        <a:off x="0" y="4283607"/>
        <a:ext cx="1971377" cy="691535"/>
      </dsp:txXfrm>
    </dsp:sp>
    <dsp:sp modelId="{A4DCEA11-1C52-B84D-831C-C6E82835E69F}">
      <dsp:nvSpPr>
        <dsp:cNvPr id="0" name=""/>
        <dsp:cNvSpPr/>
      </dsp:nvSpPr>
      <dsp:spPr>
        <a:xfrm>
          <a:off x="1971377" y="4283607"/>
          <a:ext cx="5914131" cy="69153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67" tIns="203200" rIns="119967" bIns="20320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Finally we test the model using performance scores like accuracy, Roc-</a:t>
          </a:r>
          <a:r>
            <a:rPr lang="en-US" sz="1600" kern="1200" dirty="0" err="1">
              <a:latin typeface="Times New Roman" panose="02020603050405020304" pitchFamily="18" charset="0"/>
              <a:cs typeface="Times New Roman" panose="02020603050405020304" pitchFamily="18" charset="0"/>
            </a:rPr>
            <a:t>Auc</a:t>
          </a:r>
          <a:r>
            <a:rPr lang="en-US" sz="1600" kern="1200" dirty="0">
              <a:latin typeface="Times New Roman" panose="02020603050405020304" pitchFamily="18" charset="0"/>
              <a:cs typeface="Times New Roman" panose="02020603050405020304" pitchFamily="18" charset="0"/>
            </a:rPr>
            <a:t> , precision , recall , F1 score and confusion matrix.</a:t>
          </a:r>
        </a:p>
      </dsp:txBody>
      <dsp:txXfrm>
        <a:off x="1971377" y="4283607"/>
        <a:ext cx="5914131" cy="691535"/>
      </dsp:txXfrm>
    </dsp:sp>
    <dsp:sp modelId="{8C01F75D-600F-D849-A747-509E8DF8D7E6}">
      <dsp:nvSpPr>
        <dsp:cNvPr id="0" name=""/>
        <dsp:cNvSpPr/>
      </dsp:nvSpPr>
      <dsp:spPr>
        <a:xfrm rot="10800000">
          <a:off x="0" y="3230398"/>
          <a:ext cx="1971377" cy="1063581"/>
        </a:xfrm>
        <a:prstGeom prst="upArrowCallout">
          <a:avLst>
            <a:gd name="adj1" fmla="val 5000"/>
            <a:gd name="adj2" fmla="val 10000"/>
            <a:gd name="adj3" fmla="val 15000"/>
            <a:gd name="adj4" fmla="val 64977"/>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204" tIns="170688" rIns="140204" bIns="170688" numCol="1" spcCol="1270" anchor="ctr" anchorCtr="0">
          <a:noAutofit/>
        </a:bodyPr>
        <a:lstStyle/>
        <a:p>
          <a:pPr marL="0" lvl="0" indent="0" algn="ctr" defTabSz="1066800">
            <a:lnSpc>
              <a:spcPct val="90000"/>
            </a:lnSpc>
            <a:spcBef>
              <a:spcPct val="0"/>
            </a:spcBef>
            <a:spcAft>
              <a:spcPct val="35000"/>
            </a:spcAft>
            <a:buNone/>
          </a:pPr>
          <a:r>
            <a:rPr lang="en-US" sz="2400" kern="1200"/>
            <a:t>Step 4</a:t>
          </a:r>
        </a:p>
      </dsp:txBody>
      <dsp:txXfrm rot="-10800000">
        <a:off x="0" y="3230398"/>
        <a:ext cx="1971377" cy="691327"/>
      </dsp:txXfrm>
    </dsp:sp>
    <dsp:sp modelId="{CE355F69-3EFD-FC43-B36A-0B710B93612D}">
      <dsp:nvSpPr>
        <dsp:cNvPr id="0" name=""/>
        <dsp:cNvSpPr/>
      </dsp:nvSpPr>
      <dsp:spPr>
        <a:xfrm>
          <a:off x="1971377" y="3230398"/>
          <a:ext cx="5914131" cy="691327"/>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67" tIns="203200" rIns="119967" bIns="20320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We train the model using activation functions, optimizers and scheduling the learning rate to the model.</a:t>
          </a:r>
        </a:p>
      </dsp:txBody>
      <dsp:txXfrm>
        <a:off x="1971377" y="3230398"/>
        <a:ext cx="5914131" cy="691327"/>
      </dsp:txXfrm>
    </dsp:sp>
    <dsp:sp modelId="{176FB10E-67F2-244A-9C51-F1A5D4E7014B}">
      <dsp:nvSpPr>
        <dsp:cNvPr id="0" name=""/>
        <dsp:cNvSpPr/>
      </dsp:nvSpPr>
      <dsp:spPr>
        <a:xfrm rot="10800000">
          <a:off x="0" y="2177190"/>
          <a:ext cx="1971377" cy="1063581"/>
        </a:xfrm>
        <a:prstGeom prst="upArrowCallout">
          <a:avLst>
            <a:gd name="adj1" fmla="val 5000"/>
            <a:gd name="adj2" fmla="val 10000"/>
            <a:gd name="adj3" fmla="val 15000"/>
            <a:gd name="adj4" fmla="val 64977"/>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204" tIns="170688" rIns="140204" bIns="170688" numCol="1" spcCol="1270" anchor="ctr" anchorCtr="0">
          <a:noAutofit/>
        </a:bodyPr>
        <a:lstStyle/>
        <a:p>
          <a:pPr marL="0" lvl="0" indent="0" algn="ctr" defTabSz="1066800">
            <a:lnSpc>
              <a:spcPct val="90000"/>
            </a:lnSpc>
            <a:spcBef>
              <a:spcPct val="0"/>
            </a:spcBef>
            <a:spcAft>
              <a:spcPct val="35000"/>
            </a:spcAft>
            <a:buNone/>
          </a:pPr>
          <a:r>
            <a:rPr lang="en-US" sz="2400" kern="1200"/>
            <a:t>Step 3</a:t>
          </a:r>
        </a:p>
      </dsp:txBody>
      <dsp:txXfrm rot="-10800000">
        <a:off x="0" y="2177190"/>
        <a:ext cx="1971377" cy="691327"/>
      </dsp:txXfrm>
    </dsp:sp>
    <dsp:sp modelId="{B5ADD037-1B52-0741-85DE-261FBD030161}">
      <dsp:nvSpPr>
        <dsp:cNvPr id="0" name=""/>
        <dsp:cNvSpPr/>
      </dsp:nvSpPr>
      <dsp:spPr>
        <a:xfrm>
          <a:off x="1971377" y="2109357"/>
          <a:ext cx="5914131" cy="826994"/>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67" tIns="203200" rIns="119967" bIns="20320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We take input layers, convolutional layers and we take </a:t>
          </a:r>
          <a:r>
            <a:rPr lang="en-US" sz="1600" kern="1200" dirty="0" err="1">
              <a:latin typeface="Times New Roman" panose="02020603050405020304" pitchFamily="18" charset="0"/>
              <a:cs typeface="Times New Roman" panose="02020603050405020304" pitchFamily="18" charset="0"/>
            </a:rPr>
            <a:t>ReLu</a:t>
          </a:r>
          <a:r>
            <a:rPr lang="en-US" sz="1600" kern="1200" dirty="0">
              <a:latin typeface="Times New Roman" panose="02020603050405020304" pitchFamily="18" charset="0"/>
              <a:cs typeface="Times New Roman" panose="02020603050405020304" pitchFamily="18" charset="0"/>
            </a:rPr>
            <a:t> as activation functions. Then we add pooling layers to reduce spatial dimensions. And fully connected layer. At last output layer.</a:t>
          </a:r>
        </a:p>
      </dsp:txBody>
      <dsp:txXfrm>
        <a:off x="1971377" y="2109357"/>
        <a:ext cx="5914131" cy="826994"/>
      </dsp:txXfrm>
    </dsp:sp>
    <dsp:sp modelId="{65CC2DDA-74B7-1C40-9934-246CA94A0A05}">
      <dsp:nvSpPr>
        <dsp:cNvPr id="0" name=""/>
        <dsp:cNvSpPr/>
      </dsp:nvSpPr>
      <dsp:spPr>
        <a:xfrm rot="10800000">
          <a:off x="0" y="1056148"/>
          <a:ext cx="1971377" cy="1063581"/>
        </a:xfrm>
        <a:prstGeom prst="upArrowCallout">
          <a:avLst>
            <a:gd name="adj1" fmla="val 5000"/>
            <a:gd name="adj2" fmla="val 10000"/>
            <a:gd name="adj3" fmla="val 15000"/>
            <a:gd name="adj4" fmla="val 64977"/>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204" tIns="170688" rIns="140204" bIns="170688" numCol="1" spcCol="1270" anchor="ctr" anchorCtr="0">
          <a:noAutofit/>
        </a:bodyPr>
        <a:lstStyle/>
        <a:p>
          <a:pPr marL="0" lvl="0" indent="0" algn="ctr" defTabSz="1066800">
            <a:lnSpc>
              <a:spcPct val="90000"/>
            </a:lnSpc>
            <a:spcBef>
              <a:spcPct val="0"/>
            </a:spcBef>
            <a:spcAft>
              <a:spcPct val="35000"/>
            </a:spcAft>
            <a:buNone/>
          </a:pPr>
          <a:r>
            <a:rPr lang="en-US" sz="2400" kern="1200"/>
            <a:t>Step 2</a:t>
          </a:r>
        </a:p>
      </dsp:txBody>
      <dsp:txXfrm rot="-10800000">
        <a:off x="0" y="1056148"/>
        <a:ext cx="1971377" cy="691327"/>
      </dsp:txXfrm>
    </dsp:sp>
    <dsp:sp modelId="{64E655E2-8A0E-AC40-BEC2-54C12707DA08}">
      <dsp:nvSpPr>
        <dsp:cNvPr id="0" name=""/>
        <dsp:cNvSpPr/>
      </dsp:nvSpPr>
      <dsp:spPr>
        <a:xfrm>
          <a:off x="1971377" y="1056148"/>
          <a:ext cx="5914131" cy="691327"/>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67" tIns="203200" rIns="119967" bIns="20320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We preprocess the data which is collected through sources like using stain normalization, patch extraction and data augmentation.</a:t>
          </a:r>
        </a:p>
      </dsp:txBody>
      <dsp:txXfrm>
        <a:off x="1971377" y="1056148"/>
        <a:ext cx="5914131" cy="691327"/>
      </dsp:txXfrm>
    </dsp:sp>
    <dsp:sp modelId="{772BFCBB-F9A7-754D-A415-B99AFA81DF30}">
      <dsp:nvSpPr>
        <dsp:cNvPr id="0" name=""/>
        <dsp:cNvSpPr/>
      </dsp:nvSpPr>
      <dsp:spPr>
        <a:xfrm rot="10800000">
          <a:off x="0" y="2940"/>
          <a:ext cx="1971377" cy="1063581"/>
        </a:xfrm>
        <a:prstGeom prst="upArrowCallout">
          <a:avLst>
            <a:gd name="adj1" fmla="val 5000"/>
            <a:gd name="adj2" fmla="val 10000"/>
            <a:gd name="adj3" fmla="val 15000"/>
            <a:gd name="adj4" fmla="val 64977"/>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204" tIns="170688" rIns="140204"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Step 1</a:t>
          </a:r>
        </a:p>
      </dsp:txBody>
      <dsp:txXfrm rot="-10800000">
        <a:off x="0" y="2940"/>
        <a:ext cx="1971377" cy="691327"/>
      </dsp:txXfrm>
    </dsp:sp>
    <dsp:sp modelId="{D5C2C13A-A3EF-644D-B983-85DA242B99E6}">
      <dsp:nvSpPr>
        <dsp:cNvPr id="0" name=""/>
        <dsp:cNvSpPr/>
      </dsp:nvSpPr>
      <dsp:spPr>
        <a:xfrm>
          <a:off x="1971377" y="2940"/>
          <a:ext cx="5914131" cy="691327"/>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67" tIns="203200" rIns="119967" bIns="20320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COLLECTING THE  DATA FROM PUBLIC SITES LIKE </a:t>
          </a:r>
          <a:r>
            <a:rPr lang="en-US" sz="1600" kern="1200" dirty="0" err="1">
              <a:latin typeface="Times New Roman" panose="02020603050405020304" pitchFamily="18" charset="0"/>
              <a:cs typeface="Times New Roman" panose="02020603050405020304" pitchFamily="18" charset="0"/>
            </a:rPr>
            <a:t>BreaKHis</a:t>
          </a:r>
          <a:r>
            <a:rPr lang="en-US" sz="1600" kern="1200" dirty="0">
              <a:latin typeface="Times New Roman" panose="02020603050405020304" pitchFamily="18" charset="0"/>
              <a:cs typeface="Times New Roman" panose="02020603050405020304" pitchFamily="18" charset="0"/>
            </a:rPr>
            <a:t>, CAMELYON16 and </a:t>
          </a:r>
          <a:r>
            <a:rPr lang="en-US" sz="1600" kern="1200" dirty="0" err="1">
              <a:latin typeface="Times New Roman" panose="02020603050405020304" pitchFamily="18" charset="0"/>
              <a:cs typeface="Times New Roman" panose="02020603050405020304" pitchFamily="18" charset="0"/>
            </a:rPr>
            <a:t>PatchCamelyon</a:t>
          </a:r>
          <a:endParaRPr lang="en-US" sz="1600" kern="1200" dirty="0">
            <a:latin typeface="Times New Roman" panose="02020603050405020304" pitchFamily="18" charset="0"/>
            <a:cs typeface="Times New Roman" panose="02020603050405020304" pitchFamily="18" charset="0"/>
          </a:endParaRPr>
        </a:p>
      </dsp:txBody>
      <dsp:txXfrm>
        <a:off x="1971377" y="2940"/>
        <a:ext cx="5914131" cy="691327"/>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4782C7-A981-DA49-9F80-7A4E75405182}" type="datetimeFigureOut">
              <a:rPr lang="en-US" smtClean="0"/>
              <a:t>12/12/2025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412654-83C3-6247-B37B-7386861A2027}" type="slidenum">
              <a:rPr lang="en-US" smtClean="0"/>
              <a:t>‹#›</a:t>
            </a:fld>
            <a:endParaRPr lang="en-US"/>
          </a:p>
        </p:txBody>
      </p:sp>
    </p:spTree>
    <p:extLst>
      <p:ext uri="{BB962C8B-B14F-4D97-AF65-F5344CB8AC3E}">
        <p14:creationId xmlns:p14="http://schemas.microsoft.com/office/powerpoint/2010/main" val="2073143012"/>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C60DCD-A1EE-D04E-A050-0D41A7407592}"/>
              </a:ext>
            </a:extLst>
          </p:cNvPr>
          <p:cNvSpPr/>
          <p:nvPr userDrawn="1"/>
        </p:nvSpPr>
        <p:spPr>
          <a:xfrm>
            <a:off x="0" y="0"/>
            <a:ext cx="9144000" cy="2743200"/>
          </a:xfrm>
          <a:prstGeom prst="rect">
            <a:avLst/>
          </a:prstGeom>
          <a:solidFill>
            <a:srgbClr val="69B3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6" name="Picture 5">
            <a:extLst>
              <a:ext uri="{FF2B5EF4-FFF2-40B4-BE49-F238E27FC236}">
                <a16:creationId xmlns:a16="http://schemas.microsoft.com/office/drawing/2014/main" id="{2E28DFAC-6C93-D941-AD4C-56B7F38F7E6E}"/>
              </a:ext>
            </a:extLst>
          </p:cNvPr>
          <p:cNvPicPr>
            <a:picLocks noChangeAspect="1"/>
          </p:cNvPicPr>
          <p:nvPr userDrawn="1"/>
        </p:nvPicPr>
        <p:blipFill>
          <a:blip r:embed="rId2">
            <a:alphaModFix amt="20000"/>
          </a:blip>
          <a:stretch>
            <a:fillRect/>
          </a:stretch>
        </p:blipFill>
        <p:spPr>
          <a:xfrm>
            <a:off x="6236468" y="-171450"/>
            <a:ext cx="3076696" cy="3076696"/>
          </a:xfrm>
          <a:prstGeom prst="rect">
            <a:avLst/>
          </a:prstGeom>
        </p:spPr>
      </p:pic>
      <p:sp>
        <p:nvSpPr>
          <p:cNvPr id="13" name="Rectangle 12">
            <a:extLst>
              <a:ext uri="{FF2B5EF4-FFF2-40B4-BE49-F238E27FC236}">
                <a16:creationId xmlns:a16="http://schemas.microsoft.com/office/drawing/2014/main" id="{156F2F19-5F1F-9540-9B80-03841B943248}"/>
              </a:ext>
            </a:extLst>
          </p:cNvPr>
          <p:cNvSpPr/>
          <p:nvPr userDrawn="1"/>
        </p:nvSpPr>
        <p:spPr>
          <a:xfrm>
            <a:off x="0" y="2651760"/>
            <a:ext cx="9144000" cy="91440"/>
          </a:xfrm>
          <a:prstGeom prst="rect">
            <a:avLst/>
          </a:prstGeom>
          <a:solidFill>
            <a:srgbClr val="FFC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7" name="Picture 6">
            <a:extLst>
              <a:ext uri="{FF2B5EF4-FFF2-40B4-BE49-F238E27FC236}">
                <a16:creationId xmlns:a16="http://schemas.microsoft.com/office/drawing/2014/main" id="{BF006448-8A20-764C-A113-182619307853}"/>
              </a:ext>
            </a:extLst>
          </p:cNvPr>
          <p:cNvPicPr>
            <a:picLocks noChangeAspect="1"/>
          </p:cNvPicPr>
          <p:nvPr userDrawn="1"/>
        </p:nvPicPr>
        <p:blipFill>
          <a:blip r:embed="rId3"/>
          <a:stretch>
            <a:fillRect/>
          </a:stretch>
        </p:blipFill>
        <p:spPr>
          <a:xfrm>
            <a:off x="5772150" y="6176068"/>
            <a:ext cx="2743200" cy="243165"/>
          </a:xfrm>
          <a:prstGeom prst="rect">
            <a:avLst/>
          </a:prstGeom>
        </p:spPr>
      </p:pic>
    </p:spTree>
    <p:extLst>
      <p:ext uri="{BB962C8B-B14F-4D97-AF65-F5344CB8AC3E}">
        <p14:creationId xmlns:p14="http://schemas.microsoft.com/office/powerpoint/2010/main" val="2924257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233169"/>
            <a:ext cx="7886700" cy="1325563"/>
          </a:xfrm>
        </p:spPr>
        <p:txBody>
          <a:bodyPr/>
          <a:lstStyle/>
          <a:p>
            <a:r>
              <a:rPr lang="en-US" dirty="0"/>
              <a:t>Click to edit Master title style</a:t>
            </a:r>
          </a:p>
        </p:txBody>
      </p:sp>
      <p:sp>
        <p:nvSpPr>
          <p:cNvPr id="3" name="Content Placeholder 2"/>
          <p:cNvSpPr>
            <a:spLocks noGrp="1"/>
          </p:cNvSpPr>
          <p:nvPr>
            <p:ph sz="half" idx="1"/>
          </p:nvPr>
        </p:nvSpPr>
        <p:spPr>
          <a:xfrm>
            <a:off x="628650" y="2693670"/>
            <a:ext cx="3886200" cy="34767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2693670"/>
            <a:ext cx="3886200" cy="34767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1825A77A-971A-3244-890F-3B99F774724A}" type="slidenum">
              <a:rPr lang="en-US" smtClean="0"/>
              <a:pPr/>
              <a:t>‹#›</a:t>
            </a:fld>
            <a:endParaRPr lang="en-US" dirty="0"/>
          </a:p>
        </p:txBody>
      </p:sp>
      <p:sp>
        <p:nvSpPr>
          <p:cNvPr id="8" name="Rectangle 7">
            <a:extLst>
              <a:ext uri="{FF2B5EF4-FFF2-40B4-BE49-F238E27FC236}">
                <a16:creationId xmlns:a16="http://schemas.microsoft.com/office/drawing/2014/main" id="{41F4AE9C-67F5-1A41-89B0-DEEE29CEB63B}"/>
              </a:ext>
            </a:extLst>
          </p:cNvPr>
          <p:cNvSpPr/>
          <p:nvPr userDrawn="1"/>
        </p:nvSpPr>
        <p:spPr>
          <a:xfrm>
            <a:off x="0" y="-1"/>
            <a:ext cx="9144000" cy="914401"/>
          </a:xfrm>
          <a:prstGeom prst="rect">
            <a:avLst/>
          </a:prstGeom>
          <a:solidFill>
            <a:srgbClr val="69B3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9" name="Rectangle 8">
            <a:extLst>
              <a:ext uri="{FF2B5EF4-FFF2-40B4-BE49-F238E27FC236}">
                <a16:creationId xmlns:a16="http://schemas.microsoft.com/office/drawing/2014/main" id="{21E368CC-3F6A-894C-9234-DC83E799A195}"/>
              </a:ext>
            </a:extLst>
          </p:cNvPr>
          <p:cNvSpPr/>
          <p:nvPr userDrawn="1"/>
        </p:nvSpPr>
        <p:spPr>
          <a:xfrm>
            <a:off x="0" y="6675120"/>
            <a:ext cx="9144000" cy="182880"/>
          </a:xfrm>
          <a:prstGeom prst="rect">
            <a:avLst/>
          </a:prstGeom>
          <a:solidFill>
            <a:srgbClr val="FFC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12" name="Picture 11">
            <a:extLst>
              <a:ext uri="{FF2B5EF4-FFF2-40B4-BE49-F238E27FC236}">
                <a16:creationId xmlns:a16="http://schemas.microsoft.com/office/drawing/2014/main" id="{E672DBF6-0DAC-E148-9CD9-C668F894CB13}"/>
              </a:ext>
            </a:extLst>
          </p:cNvPr>
          <p:cNvPicPr>
            <a:picLocks noChangeAspect="1"/>
          </p:cNvPicPr>
          <p:nvPr userDrawn="1"/>
        </p:nvPicPr>
        <p:blipFill>
          <a:blip r:embed="rId2"/>
          <a:stretch>
            <a:fillRect/>
          </a:stretch>
        </p:blipFill>
        <p:spPr>
          <a:xfrm>
            <a:off x="7847355" y="322584"/>
            <a:ext cx="667996" cy="269231"/>
          </a:xfrm>
          <a:prstGeom prst="rect">
            <a:avLst/>
          </a:prstGeom>
        </p:spPr>
      </p:pic>
    </p:spTree>
    <p:extLst>
      <p:ext uri="{BB962C8B-B14F-4D97-AF65-F5344CB8AC3E}">
        <p14:creationId xmlns:p14="http://schemas.microsoft.com/office/powerpoint/2010/main" val="3996357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1233169"/>
            <a:ext cx="2949178"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3887391" y="1233170"/>
            <a:ext cx="462915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992293"/>
            <a:ext cx="2949178" cy="3114503"/>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8" name="Rectangle 7">
            <a:extLst>
              <a:ext uri="{FF2B5EF4-FFF2-40B4-BE49-F238E27FC236}">
                <a16:creationId xmlns:a16="http://schemas.microsoft.com/office/drawing/2014/main" id="{4B43BBDD-4F51-5942-AA98-E7E60DD246B8}"/>
              </a:ext>
            </a:extLst>
          </p:cNvPr>
          <p:cNvSpPr/>
          <p:nvPr userDrawn="1"/>
        </p:nvSpPr>
        <p:spPr>
          <a:xfrm>
            <a:off x="0" y="-1"/>
            <a:ext cx="9144000" cy="914401"/>
          </a:xfrm>
          <a:prstGeom prst="rect">
            <a:avLst/>
          </a:prstGeom>
          <a:solidFill>
            <a:srgbClr val="69B3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10" name="Rectangle 9">
            <a:extLst>
              <a:ext uri="{FF2B5EF4-FFF2-40B4-BE49-F238E27FC236}">
                <a16:creationId xmlns:a16="http://schemas.microsoft.com/office/drawing/2014/main" id="{9D12223B-7DCB-0A48-A51E-8DF64C6AB09A}"/>
              </a:ext>
            </a:extLst>
          </p:cNvPr>
          <p:cNvSpPr/>
          <p:nvPr userDrawn="1"/>
        </p:nvSpPr>
        <p:spPr>
          <a:xfrm>
            <a:off x="0" y="6675120"/>
            <a:ext cx="9144000" cy="182880"/>
          </a:xfrm>
          <a:prstGeom prst="rect">
            <a:avLst/>
          </a:prstGeom>
          <a:solidFill>
            <a:srgbClr val="FFC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1" name="Slide Number Placeholder 6">
            <a:extLst>
              <a:ext uri="{FF2B5EF4-FFF2-40B4-BE49-F238E27FC236}">
                <a16:creationId xmlns:a16="http://schemas.microsoft.com/office/drawing/2014/main" id="{FA19B8AF-179C-6A40-9FCF-C1F83ADFC6C0}"/>
              </a:ext>
            </a:extLst>
          </p:cNvPr>
          <p:cNvSpPr>
            <a:spLocks noGrp="1"/>
          </p:cNvSpPr>
          <p:nvPr>
            <p:ph type="sldNum" sz="quarter" idx="12"/>
          </p:nvPr>
        </p:nvSpPr>
        <p:spPr>
          <a:xfrm>
            <a:off x="6457950" y="6356351"/>
            <a:ext cx="2057400" cy="365125"/>
          </a:xfrm>
        </p:spPr>
        <p:txBody>
          <a:bodyPr/>
          <a:lstStyle>
            <a:lvl1pPr>
              <a:defRPr>
                <a:solidFill>
                  <a:schemeClr val="tx1"/>
                </a:solidFill>
              </a:defRPr>
            </a:lvl1pPr>
          </a:lstStyle>
          <a:p>
            <a:fld id="{1825A77A-971A-3244-890F-3B99F774724A}" type="slidenum">
              <a:rPr lang="en-US" smtClean="0"/>
              <a:pPr/>
              <a:t>‹#›</a:t>
            </a:fld>
            <a:endParaRPr lang="en-US" dirty="0"/>
          </a:p>
        </p:txBody>
      </p:sp>
      <p:pic>
        <p:nvPicPr>
          <p:cNvPr id="13" name="Picture 12">
            <a:extLst>
              <a:ext uri="{FF2B5EF4-FFF2-40B4-BE49-F238E27FC236}">
                <a16:creationId xmlns:a16="http://schemas.microsoft.com/office/drawing/2014/main" id="{4F087DC1-D29E-C342-8A11-CCD0B4FE6B11}"/>
              </a:ext>
            </a:extLst>
          </p:cNvPr>
          <p:cNvPicPr>
            <a:picLocks noChangeAspect="1"/>
          </p:cNvPicPr>
          <p:nvPr userDrawn="1"/>
        </p:nvPicPr>
        <p:blipFill>
          <a:blip r:embed="rId2"/>
          <a:stretch>
            <a:fillRect/>
          </a:stretch>
        </p:blipFill>
        <p:spPr>
          <a:xfrm>
            <a:off x="7847355" y="322584"/>
            <a:ext cx="667996" cy="269231"/>
          </a:xfrm>
          <a:prstGeom prst="rect">
            <a:avLst/>
          </a:prstGeom>
        </p:spPr>
      </p:pic>
    </p:spTree>
    <p:extLst>
      <p:ext uri="{BB962C8B-B14F-4D97-AF65-F5344CB8AC3E}">
        <p14:creationId xmlns:p14="http://schemas.microsoft.com/office/powerpoint/2010/main" val="3543951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D56338-8C42-5A4C-B15A-5E6D618BF4F2}"/>
              </a:ext>
            </a:extLst>
          </p:cNvPr>
          <p:cNvSpPr/>
          <p:nvPr userDrawn="1"/>
        </p:nvSpPr>
        <p:spPr>
          <a:xfrm>
            <a:off x="0" y="-1"/>
            <a:ext cx="9144000" cy="914401"/>
          </a:xfrm>
          <a:prstGeom prst="rect">
            <a:avLst/>
          </a:prstGeom>
          <a:solidFill>
            <a:srgbClr val="69B3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8" name="Rectangle 7">
            <a:extLst>
              <a:ext uri="{FF2B5EF4-FFF2-40B4-BE49-F238E27FC236}">
                <a16:creationId xmlns:a16="http://schemas.microsoft.com/office/drawing/2014/main" id="{1F4F877C-2745-294D-A776-CA518D80DE0A}"/>
              </a:ext>
            </a:extLst>
          </p:cNvPr>
          <p:cNvSpPr/>
          <p:nvPr userDrawn="1"/>
        </p:nvSpPr>
        <p:spPr>
          <a:xfrm>
            <a:off x="0" y="6675120"/>
            <a:ext cx="9144000" cy="182880"/>
          </a:xfrm>
          <a:prstGeom prst="rect">
            <a:avLst/>
          </a:prstGeom>
          <a:solidFill>
            <a:srgbClr val="FFC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0" name="Slide Number Placeholder 6">
            <a:extLst>
              <a:ext uri="{FF2B5EF4-FFF2-40B4-BE49-F238E27FC236}">
                <a16:creationId xmlns:a16="http://schemas.microsoft.com/office/drawing/2014/main" id="{E0B38AD8-F3C5-7940-BF85-B96BF38E0637}"/>
              </a:ext>
            </a:extLst>
          </p:cNvPr>
          <p:cNvSpPr>
            <a:spLocks noGrp="1"/>
          </p:cNvSpPr>
          <p:nvPr>
            <p:ph type="sldNum" sz="quarter" idx="12"/>
          </p:nvPr>
        </p:nvSpPr>
        <p:spPr>
          <a:xfrm>
            <a:off x="6457950" y="6356351"/>
            <a:ext cx="2057400" cy="365125"/>
          </a:xfrm>
        </p:spPr>
        <p:txBody>
          <a:bodyPr/>
          <a:lstStyle>
            <a:lvl1pPr>
              <a:defRPr>
                <a:solidFill>
                  <a:schemeClr val="tx1"/>
                </a:solidFill>
              </a:defRPr>
            </a:lvl1pPr>
          </a:lstStyle>
          <a:p>
            <a:fld id="{1825A77A-971A-3244-890F-3B99F774724A}" type="slidenum">
              <a:rPr lang="en-US" smtClean="0"/>
              <a:pPr/>
              <a:t>‹#›</a:t>
            </a:fld>
            <a:endParaRPr lang="en-US" dirty="0"/>
          </a:p>
        </p:txBody>
      </p:sp>
      <p:sp>
        <p:nvSpPr>
          <p:cNvPr id="11" name="Title 1">
            <a:extLst>
              <a:ext uri="{FF2B5EF4-FFF2-40B4-BE49-F238E27FC236}">
                <a16:creationId xmlns:a16="http://schemas.microsoft.com/office/drawing/2014/main" id="{7FA62369-8A22-664A-A57A-10CC43BAE04E}"/>
              </a:ext>
            </a:extLst>
          </p:cNvPr>
          <p:cNvSpPr>
            <a:spLocks noGrp="1"/>
          </p:cNvSpPr>
          <p:nvPr>
            <p:ph type="title"/>
          </p:nvPr>
        </p:nvSpPr>
        <p:spPr>
          <a:xfrm>
            <a:off x="628650" y="1233169"/>
            <a:ext cx="7886700" cy="1325563"/>
          </a:xfrm>
        </p:spPr>
        <p:txBody>
          <a:bodyPr/>
          <a:lstStyle/>
          <a:p>
            <a:r>
              <a:rPr lang="en-US" dirty="0"/>
              <a:t>Click to edit Master title style</a:t>
            </a:r>
          </a:p>
        </p:txBody>
      </p:sp>
      <p:sp>
        <p:nvSpPr>
          <p:cNvPr id="12" name="Content Placeholder 2">
            <a:extLst>
              <a:ext uri="{FF2B5EF4-FFF2-40B4-BE49-F238E27FC236}">
                <a16:creationId xmlns:a16="http://schemas.microsoft.com/office/drawing/2014/main" id="{BFA4AFD9-2B8B-FE40-A4BC-0A4258AA842A}"/>
              </a:ext>
            </a:extLst>
          </p:cNvPr>
          <p:cNvSpPr>
            <a:spLocks noGrp="1"/>
          </p:cNvSpPr>
          <p:nvPr>
            <p:ph sz="half" idx="1"/>
          </p:nvPr>
        </p:nvSpPr>
        <p:spPr>
          <a:xfrm>
            <a:off x="628650" y="2693670"/>
            <a:ext cx="7886700" cy="3476724"/>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a:extLst>
              <a:ext uri="{FF2B5EF4-FFF2-40B4-BE49-F238E27FC236}">
                <a16:creationId xmlns:a16="http://schemas.microsoft.com/office/drawing/2014/main" id="{E2CD807D-CF7D-A84C-AABB-8EB38292CA63}"/>
              </a:ext>
            </a:extLst>
          </p:cNvPr>
          <p:cNvPicPr>
            <a:picLocks noChangeAspect="1"/>
          </p:cNvPicPr>
          <p:nvPr userDrawn="1"/>
        </p:nvPicPr>
        <p:blipFill>
          <a:blip r:embed="rId2"/>
          <a:stretch>
            <a:fillRect/>
          </a:stretch>
        </p:blipFill>
        <p:spPr>
          <a:xfrm>
            <a:off x="7847355" y="322584"/>
            <a:ext cx="667996" cy="269231"/>
          </a:xfrm>
          <a:prstGeom prst="rect">
            <a:avLst/>
          </a:prstGeom>
        </p:spPr>
      </p:pic>
    </p:spTree>
    <p:extLst>
      <p:ext uri="{BB962C8B-B14F-4D97-AF65-F5344CB8AC3E}">
        <p14:creationId xmlns:p14="http://schemas.microsoft.com/office/powerpoint/2010/main" val="597242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825A77A-971A-3244-890F-3B99F774724A}" type="slidenum">
              <a:rPr lang="en-US" smtClean="0"/>
              <a:pPr/>
              <a:t>‹#›</a:t>
            </a:fld>
            <a:endParaRPr lang="en-US" dirty="0"/>
          </a:p>
        </p:txBody>
      </p:sp>
      <p:sp>
        <p:nvSpPr>
          <p:cNvPr id="5" name="Rectangle 4">
            <a:extLst>
              <a:ext uri="{FF2B5EF4-FFF2-40B4-BE49-F238E27FC236}">
                <a16:creationId xmlns:a16="http://schemas.microsoft.com/office/drawing/2014/main" id="{1E95645F-D1FD-AB49-94B6-E1A0A46E6E38}"/>
              </a:ext>
            </a:extLst>
          </p:cNvPr>
          <p:cNvSpPr/>
          <p:nvPr userDrawn="1"/>
        </p:nvSpPr>
        <p:spPr>
          <a:xfrm>
            <a:off x="0" y="0"/>
            <a:ext cx="9144000" cy="6858000"/>
          </a:xfrm>
          <a:prstGeom prst="rect">
            <a:avLst/>
          </a:prstGeom>
          <a:solidFill>
            <a:srgbClr val="69B3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extLst>
              <a:ext uri="{FF2B5EF4-FFF2-40B4-BE49-F238E27FC236}">
                <a16:creationId xmlns:a16="http://schemas.microsoft.com/office/drawing/2014/main" id="{ADFC020F-74CE-744F-B417-D101F5F860F7}"/>
              </a:ext>
            </a:extLst>
          </p:cNvPr>
          <p:cNvSpPr/>
          <p:nvPr userDrawn="1"/>
        </p:nvSpPr>
        <p:spPr>
          <a:xfrm>
            <a:off x="0" y="6675120"/>
            <a:ext cx="9144000" cy="182880"/>
          </a:xfrm>
          <a:prstGeom prst="rect">
            <a:avLst/>
          </a:prstGeom>
          <a:solidFill>
            <a:srgbClr val="FFC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9" name="Picture 8">
            <a:extLst>
              <a:ext uri="{FF2B5EF4-FFF2-40B4-BE49-F238E27FC236}">
                <a16:creationId xmlns:a16="http://schemas.microsoft.com/office/drawing/2014/main" id="{5879FC38-93A5-254A-9580-ADF945DCA186}"/>
              </a:ext>
            </a:extLst>
          </p:cNvPr>
          <p:cNvPicPr>
            <a:picLocks noChangeAspect="1"/>
          </p:cNvPicPr>
          <p:nvPr userDrawn="1"/>
        </p:nvPicPr>
        <p:blipFill>
          <a:blip r:embed="rId2"/>
          <a:stretch>
            <a:fillRect/>
          </a:stretch>
        </p:blipFill>
        <p:spPr>
          <a:xfrm>
            <a:off x="7847355" y="322584"/>
            <a:ext cx="667996" cy="269231"/>
          </a:xfrm>
          <a:prstGeom prst="rect">
            <a:avLst/>
          </a:prstGeom>
        </p:spPr>
      </p:pic>
      <p:pic>
        <p:nvPicPr>
          <p:cNvPr id="10" name="Picture 9">
            <a:extLst>
              <a:ext uri="{FF2B5EF4-FFF2-40B4-BE49-F238E27FC236}">
                <a16:creationId xmlns:a16="http://schemas.microsoft.com/office/drawing/2014/main" id="{48A57B61-6E93-3E4B-B366-DD651B8AFFD4}"/>
              </a:ext>
            </a:extLst>
          </p:cNvPr>
          <p:cNvPicPr>
            <a:picLocks noChangeAspect="1"/>
          </p:cNvPicPr>
          <p:nvPr userDrawn="1"/>
        </p:nvPicPr>
        <p:blipFill>
          <a:blip r:embed="rId3">
            <a:alphaModFix amt="10000"/>
          </a:blip>
          <a:stretch>
            <a:fillRect/>
          </a:stretch>
        </p:blipFill>
        <p:spPr>
          <a:xfrm>
            <a:off x="-685800" y="-685800"/>
            <a:ext cx="6175094" cy="6175094"/>
          </a:xfrm>
          <a:prstGeom prst="rect">
            <a:avLst/>
          </a:prstGeom>
        </p:spPr>
      </p:pic>
    </p:spTree>
    <p:extLst>
      <p:ext uri="{BB962C8B-B14F-4D97-AF65-F5344CB8AC3E}">
        <p14:creationId xmlns:p14="http://schemas.microsoft.com/office/powerpoint/2010/main" val="3015255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25A77A-971A-3244-890F-3B99F774724A}" type="slidenum">
              <a:rPr lang="en-US" smtClean="0"/>
              <a:t>‹#›</a:t>
            </a:fld>
            <a:endParaRPr lang="en-US"/>
          </a:p>
        </p:txBody>
      </p:sp>
    </p:spTree>
    <p:extLst>
      <p:ext uri="{BB962C8B-B14F-4D97-AF65-F5344CB8AC3E}">
        <p14:creationId xmlns:p14="http://schemas.microsoft.com/office/powerpoint/2010/main" val="3650925862"/>
      </p:ext>
    </p:extLst>
  </p:cSld>
  <p:clrMap bg1="lt1" tx1="dk1" bg2="lt2" tx2="dk2" accent1="accent1" accent2="accent2" accent3="accent3" accent4="accent4" accent5="accent5" accent6="accent6" hlink="hlink" folHlink="folHlink"/>
  <p:sldLayoutIdLst>
    <p:sldLayoutId id="2147483670" r:id="rId1"/>
    <p:sldLayoutId id="2147483662" r:id="rId2"/>
    <p:sldLayoutId id="2147483667" r:id="rId3"/>
    <p:sldLayoutId id="2147483660" r:id="rId4"/>
    <p:sldLayoutId id="2147483665" r:id="rId5"/>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6E06235-B4A9-1445-B4B0-799FEB40F49A}"/>
              </a:ext>
            </a:extLst>
          </p:cNvPr>
          <p:cNvSpPr txBox="1">
            <a:spLocks noChangeArrowheads="1"/>
          </p:cNvSpPr>
          <p:nvPr/>
        </p:nvSpPr>
        <p:spPr>
          <a:xfrm>
            <a:off x="-65314" y="347686"/>
            <a:ext cx="6214187" cy="1902156"/>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b="1" dirty="0">
                <a:latin typeface="Times New Roman" panose="02020603050405020304" pitchFamily="18" charset="0"/>
                <a:cs typeface="Times New Roman" panose="02020603050405020304" pitchFamily="18" charset="0"/>
              </a:rPr>
              <a:t>BREAST CANCER DETECTION USING HISTOPATHOLOGY IMAGES</a:t>
            </a:r>
          </a:p>
        </p:txBody>
      </p:sp>
      <p:sp>
        <p:nvSpPr>
          <p:cNvPr id="5" name="Rectangle 3">
            <a:extLst>
              <a:ext uri="{FF2B5EF4-FFF2-40B4-BE49-F238E27FC236}">
                <a16:creationId xmlns:a16="http://schemas.microsoft.com/office/drawing/2014/main" id="{4614B48C-432E-4046-9F84-C6EB95379FC1}"/>
              </a:ext>
            </a:extLst>
          </p:cNvPr>
          <p:cNvSpPr txBox="1">
            <a:spLocks noChangeArrowheads="1"/>
          </p:cNvSpPr>
          <p:nvPr/>
        </p:nvSpPr>
        <p:spPr>
          <a:xfrm>
            <a:off x="756214" y="3324755"/>
            <a:ext cx="6623825" cy="1972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en-US" dirty="0"/>
          </a:p>
        </p:txBody>
      </p:sp>
      <p:sp>
        <p:nvSpPr>
          <p:cNvPr id="9" name="TextBox 8">
            <a:extLst>
              <a:ext uri="{FF2B5EF4-FFF2-40B4-BE49-F238E27FC236}">
                <a16:creationId xmlns:a16="http://schemas.microsoft.com/office/drawing/2014/main" id="{A2163CFA-8E03-DC47-AB89-020E49AEA157}"/>
              </a:ext>
            </a:extLst>
          </p:cNvPr>
          <p:cNvSpPr txBox="1"/>
          <p:nvPr/>
        </p:nvSpPr>
        <p:spPr>
          <a:xfrm>
            <a:off x="95201" y="5412656"/>
            <a:ext cx="3266244" cy="1384995"/>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By: Rishik Konduru,</a:t>
            </a:r>
          </a:p>
          <a:p>
            <a:r>
              <a:rPr lang="en-US" sz="1400" dirty="0">
                <a:latin typeface="Times New Roman" panose="02020603050405020304" pitchFamily="18" charset="0"/>
                <a:cs typeface="Times New Roman" panose="02020603050405020304" pitchFamily="18" charset="0"/>
              </a:rPr>
              <a:t>       Rahul </a:t>
            </a:r>
            <a:r>
              <a:rPr lang="en-US" sz="1400" dirty="0" err="1">
                <a:latin typeface="Times New Roman" panose="02020603050405020304" pitchFamily="18" charset="0"/>
                <a:cs typeface="Times New Roman" panose="02020603050405020304" pitchFamily="18" charset="0"/>
              </a:rPr>
              <a:t>Avutu</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Shashank </a:t>
            </a:r>
            <a:r>
              <a:rPr lang="en-US" sz="1400" dirty="0" err="1">
                <a:latin typeface="Times New Roman" panose="02020603050405020304" pitchFamily="18" charset="0"/>
                <a:cs typeface="Times New Roman" panose="02020603050405020304" pitchFamily="18" charset="0"/>
              </a:rPr>
              <a:t>Maddri</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Shivaram </a:t>
            </a:r>
            <a:r>
              <a:rPr lang="en-US" sz="1400" dirty="0" err="1">
                <a:latin typeface="Times New Roman" panose="02020603050405020304" pitchFamily="18" charset="0"/>
                <a:cs typeface="Times New Roman" panose="02020603050405020304" pitchFamily="18" charset="0"/>
              </a:rPr>
              <a:t>Velidineni</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Date: 12/12/2025</a:t>
            </a:r>
          </a:p>
          <a:p>
            <a:r>
              <a:rPr lang="it-IT" sz="1400" dirty="0">
                <a:latin typeface="Times New Roman" panose="02020603050405020304" pitchFamily="18" charset="0"/>
                <a:cs typeface="Times New Roman" panose="02020603050405020304" pitchFamily="18" charset="0"/>
              </a:rPr>
              <a:t>AI700-001_BK_FALL2025</a:t>
            </a:r>
            <a:endParaRPr lang="en-US" sz="1400" dirty="0">
              <a:latin typeface="Times New Roman" panose="02020603050405020304" pitchFamily="18" charset="0"/>
              <a:cs typeface="Times New Roman" panose="02020603050405020304" pitchFamily="18" charset="0"/>
            </a:endParaRPr>
          </a:p>
        </p:txBody>
      </p:sp>
      <p:pic>
        <p:nvPicPr>
          <p:cNvPr id="1026" name="Picture 2" descr="Frontiers | Image Descriptors for Weakly Annotated Histopathological Breast  Cancer Data">
            <a:extLst>
              <a:ext uri="{FF2B5EF4-FFF2-40B4-BE49-F238E27FC236}">
                <a16:creationId xmlns:a16="http://schemas.microsoft.com/office/drawing/2014/main" id="{4EABECAB-064C-89F1-65FD-8F014B9D52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1475" y="2749483"/>
            <a:ext cx="7127324" cy="2780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590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61BCF1-984E-8948-950A-5CD9598359EE}"/>
              </a:ext>
            </a:extLst>
          </p:cNvPr>
          <p:cNvSpPr>
            <a:spLocks noGrp="1"/>
          </p:cNvSpPr>
          <p:nvPr>
            <p:ph sz="half" idx="1"/>
          </p:nvPr>
        </p:nvSpPr>
        <p:spPr>
          <a:xfrm>
            <a:off x="628650" y="1122947"/>
            <a:ext cx="7886700" cy="5047447"/>
          </a:xfrm>
        </p:spPr>
        <p:txBody>
          <a:bodyPr>
            <a:normAutofit lnSpcReduction="10000"/>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DATASET OVERVIEW</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DATASET BREAKDOWN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MODEL ARCHITECTURE REVIEW</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WHY THIS ARCHITECTURE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COMPARISON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ALGORITHM</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MODEL RESULTS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CONCLUSION &amp; FUTURE WORK</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REFERENCES</a:t>
            </a: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a:p>
            <a:endParaRPr lang="en-US" dirty="0"/>
          </a:p>
          <a:p>
            <a:endParaRPr lang="en-US" dirty="0"/>
          </a:p>
          <a:p>
            <a:endParaRPr lang="en-US" dirty="0"/>
          </a:p>
        </p:txBody>
      </p:sp>
      <p:sp>
        <p:nvSpPr>
          <p:cNvPr id="5" name="Rectangle 2">
            <a:extLst>
              <a:ext uri="{FF2B5EF4-FFF2-40B4-BE49-F238E27FC236}">
                <a16:creationId xmlns:a16="http://schemas.microsoft.com/office/drawing/2014/main" id="{69684B8B-43FC-324A-B112-F515B802157A}"/>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mn-lt"/>
                <a:cs typeface="Arial" panose="020B0604020202020204" pitchFamily="34" charset="0"/>
              </a:rPr>
              <a:t>OVERVIEW </a:t>
            </a:r>
          </a:p>
        </p:txBody>
      </p:sp>
      <p:sp>
        <p:nvSpPr>
          <p:cNvPr id="2" name="Slide Number Placeholder 1">
            <a:extLst>
              <a:ext uri="{FF2B5EF4-FFF2-40B4-BE49-F238E27FC236}">
                <a16:creationId xmlns:a16="http://schemas.microsoft.com/office/drawing/2014/main" id="{E2C8CBDB-C241-4C9B-9B12-C17CD5A4772E}"/>
              </a:ext>
            </a:extLst>
          </p:cNvPr>
          <p:cNvSpPr>
            <a:spLocks noGrp="1"/>
          </p:cNvSpPr>
          <p:nvPr>
            <p:ph type="sldNum" sz="quarter" idx="12"/>
          </p:nvPr>
        </p:nvSpPr>
        <p:spPr/>
        <p:txBody>
          <a:bodyPr/>
          <a:lstStyle/>
          <a:p>
            <a:fld id="{1825A77A-971A-3244-890F-3B99F774724A}" type="slidenum">
              <a:rPr lang="en-US" smtClean="0"/>
              <a:pPr/>
              <a:t>2</a:t>
            </a:fld>
            <a:endParaRPr lang="en-US" dirty="0"/>
          </a:p>
        </p:txBody>
      </p:sp>
    </p:spTree>
    <p:extLst>
      <p:ext uri="{BB962C8B-B14F-4D97-AF65-F5344CB8AC3E}">
        <p14:creationId xmlns:p14="http://schemas.microsoft.com/office/powerpoint/2010/main" val="3375918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61BCF1-984E-8948-950A-5CD9598359EE}"/>
              </a:ext>
            </a:extLst>
          </p:cNvPr>
          <p:cNvSpPr>
            <a:spLocks noGrp="1"/>
          </p:cNvSpPr>
          <p:nvPr>
            <p:ph sz="half" idx="1"/>
          </p:nvPr>
        </p:nvSpPr>
        <p:spPr>
          <a:xfrm>
            <a:off x="628650" y="1122947"/>
            <a:ext cx="7886700" cy="5399151"/>
          </a:xfrm>
        </p:spPr>
        <p:txBody>
          <a:bodyPr>
            <a:normAutofit fontScale="25000" lnSpcReduction="20000"/>
          </a:bodyPr>
          <a:lstStyle/>
          <a:p>
            <a:pPr marL="0" indent="0">
              <a:buNone/>
            </a:pPr>
            <a:r>
              <a:rPr lang="en-US" sz="7200" b="1" dirty="0">
                <a:latin typeface="Times New Roman" panose="02020603050405020304" pitchFamily="18" charset="0"/>
                <a:cs typeface="Times New Roman" panose="02020603050405020304" pitchFamily="18" charset="0"/>
              </a:rPr>
              <a:t>EfficientNet-B5</a:t>
            </a:r>
            <a:r>
              <a:rPr lang="en-US" sz="7200" dirty="0">
                <a:latin typeface="Times New Roman" panose="02020603050405020304" pitchFamily="18" charset="0"/>
                <a:cs typeface="Times New Roman" panose="02020603050405020304" pitchFamily="18" charset="0"/>
              </a:rPr>
              <a:t> represents a pivotal advancement in convolutional neural network architecture, emerging from Google Research's groundbreaking </a:t>
            </a:r>
            <a:r>
              <a:rPr lang="en-US" sz="7200" b="1" dirty="0">
                <a:latin typeface="Times New Roman" panose="02020603050405020304" pitchFamily="18" charset="0"/>
                <a:cs typeface="Times New Roman" panose="02020603050405020304" pitchFamily="18" charset="0"/>
              </a:rPr>
              <a:t>compound scaling methodology</a:t>
            </a:r>
            <a:r>
              <a:rPr lang="en-US" sz="7200" dirty="0">
                <a:latin typeface="Times New Roman" panose="02020603050405020304" pitchFamily="18" charset="0"/>
                <a:cs typeface="Times New Roman" panose="02020603050405020304" pitchFamily="18" charset="0"/>
              </a:rPr>
              <a:t> that systematically balances network depth, width, and resolution for optimal performance. As a member of the highly influential </a:t>
            </a:r>
            <a:r>
              <a:rPr lang="en-US" sz="7200" dirty="0" err="1">
                <a:latin typeface="Times New Roman" panose="02020603050405020304" pitchFamily="18" charset="0"/>
                <a:cs typeface="Times New Roman" panose="02020603050405020304" pitchFamily="18" charset="0"/>
              </a:rPr>
              <a:t>EfficientNet</a:t>
            </a:r>
            <a:r>
              <a:rPr lang="en-US" sz="7200" dirty="0">
                <a:latin typeface="Times New Roman" panose="02020603050405020304" pitchFamily="18" charset="0"/>
                <a:cs typeface="Times New Roman" panose="02020603050405020304" pitchFamily="18" charset="0"/>
              </a:rPr>
              <a:t> family, B5 stands at the sweet spot of the performance-efficiency spectrum, offering exceptional feature extraction capabilities while maintaining manageable computational demands compared to its larger counterparts. This architecture achieves its prowess through a sophisticated combination of </a:t>
            </a:r>
            <a:r>
              <a:rPr lang="en-US" sz="7200" b="1" dirty="0">
                <a:latin typeface="Times New Roman" panose="02020603050405020304" pitchFamily="18" charset="0"/>
                <a:cs typeface="Times New Roman" panose="02020603050405020304" pitchFamily="18" charset="0"/>
              </a:rPr>
              <a:t>mobile inverted bottleneck convolution (</a:t>
            </a:r>
            <a:r>
              <a:rPr lang="en-US" sz="7200" b="1" dirty="0" err="1">
                <a:latin typeface="Times New Roman" panose="02020603050405020304" pitchFamily="18" charset="0"/>
                <a:cs typeface="Times New Roman" panose="02020603050405020304" pitchFamily="18" charset="0"/>
              </a:rPr>
              <a:t>MBConv</a:t>
            </a:r>
            <a:r>
              <a:rPr lang="en-US" sz="7200" b="1" dirty="0">
                <a:latin typeface="Times New Roman" panose="02020603050405020304" pitchFamily="18" charset="0"/>
                <a:cs typeface="Times New Roman" panose="02020603050405020304" pitchFamily="18" charset="0"/>
              </a:rPr>
              <a:t>)</a:t>
            </a:r>
            <a:r>
              <a:rPr lang="en-US" sz="7200" dirty="0">
                <a:latin typeface="Times New Roman" panose="02020603050405020304" pitchFamily="18" charset="0"/>
                <a:cs typeface="Times New Roman" panose="02020603050405020304" pitchFamily="18" charset="0"/>
              </a:rPr>
              <a:t> blocks with squeeze-and-excitation attention mechanisms, enabling it to capture both local texture patterns and global contextual relationships—a particularly valuable trait for histopathological image analysis where cellular morphology and tissue architecture must be interpreted simultaneously.</a:t>
            </a:r>
          </a:p>
          <a:p>
            <a:pPr marL="0" indent="0">
              <a:buNone/>
            </a:pPr>
            <a:r>
              <a:rPr lang="en-US" sz="7200" dirty="0">
                <a:latin typeface="Times New Roman" panose="02020603050405020304" pitchFamily="18" charset="0"/>
                <a:cs typeface="Times New Roman" panose="02020603050405020304" pitchFamily="18" charset="0"/>
              </a:rPr>
              <a:t>In the context of medical imaging and specifically for the </a:t>
            </a:r>
            <a:r>
              <a:rPr lang="en-US" sz="7200" b="1" dirty="0" err="1">
                <a:latin typeface="Times New Roman" panose="02020603050405020304" pitchFamily="18" charset="0"/>
                <a:cs typeface="Times New Roman" panose="02020603050405020304" pitchFamily="18" charset="0"/>
              </a:rPr>
              <a:t>BreakHis</a:t>
            </a:r>
            <a:r>
              <a:rPr lang="en-US" sz="7200" b="1" dirty="0">
                <a:latin typeface="Times New Roman" panose="02020603050405020304" pitchFamily="18" charset="0"/>
                <a:cs typeface="Times New Roman" panose="02020603050405020304" pitchFamily="18" charset="0"/>
              </a:rPr>
              <a:t> breast cancer histopathology dataset</a:t>
            </a:r>
            <a:r>
              <a:rPr lang="en-US" sz="7200" dirty="0">
                <a:latin typeface="Times New Roman" panose="02020603050405020304" pitchFamily="18" charset="0"/>
                <a:cs typeface="Times New Roman" panose="02020603050405020304" pitchFamily="18" charset="0"/>
              </a:rPr>
              <a:t>, EfficientNet-B5's 456×456 input resolution provides a critical advantage by preserving fine-grained cellular details essential for distinguishing between malignant and benign tissue subtypes. The model's </a:t>
            </a:r>
            <a:r>
              <a:rPr lang="en-US" sz="7200" b="1" dirty="0">
                <a:latin typeface="Times New Roman" panose="02020603050405020304" pitchFamily="18" charset="0"/>
                <a:cs typeface="Times New Roman" panose="02020603050405020304" pitchFamily="18" charset="0"/>
              </a:rPr>
              <a:t>~30 million parameters</a:t>
            </a:r>
            <a:r>
              <a:rPr lang="en-US" sz="7200" dirty="0">
                <a:latin typeface="Times New Roman" panose="02020603050405020304" pitchFamily="18" charset="0"/>
                <a:cs typeface="Times New Roman" panose="02020603050405020304" pitchFamily="18" charset="0"/>
              </a:rPr>
              <a:t> and carefully engineered scaling factors (β=1.6, γ=2.2) allow it to learn hierarchical representations that progress from simple edge and texture detectors in early layers to complex tissue pattern recognizers in deeper layers, mirroring the diagnostic workflow of pathologists. Furthermore, its </a:t>
            </a:r>
            <a:r>
              <a:rPr lang="en-US" sz="7200" b="1" dirty="0">
                <a:latin typeface="Times New Roman" panose="02020603050405020304" pitchFamily="18" charset="0"/>
                <a:cs typeface="Times New Roman" panose="02020603050405020304" pitchFamily="18" charset="0"/>
              </a:rPr>
              <a:t>pre-trained ImageNet weights</a:t>
            </a:r>
            <a:r>
              <a:rPr lang="en-US" sz="7200" dirty="0">
                <a:latin typeface="Times New Roman" panose="02020603050405020304" pitchFamily="18" charset="0"/>
                <a:cs typeface="Times New Roman" panose="02020603050405020304" pitchFamily="18" charset="0"/>
              </a:rPr>
              <a:t> serve as an excellent initialization for transfer learning, providing robust low-level feature extractors that can be efficiently adapted to the distinct visual domain of histopathology through targeted fine-tuning of only the final blocks, as implemented in the current pipeline, making it an ideal choice for medical AI applications where both accuracy and computational practicality must be carefully balanced.</a:t>
            </a:r>
          </a:p>
          <a:p>
            <a:pPr marL="0" indent="0">
              <a:buNone/>
            </a:pPr>
            <a:br>
              <a:rPr lang="en-US" dirty="0"/>
            </a:br>
            <a:endParaRPr lang="en-US" dirty="0"/>
          </a:p>
        </p:txBody>
      </p:sp>
      <p:sp>
        <p:nvSpPr>
          <p:cNvPr id="5" name="Rectangle 2">
            <a:extLst>
              <a:ext uri="{FF2B5EF4-FFF2-40B4-BE49-F238E27FC236}">
                <a16:creationId xmlns:a16="http://schemas.microsoft.com/office/drawing/2014/main" id="{69684B8B-43FC-324A-B112-F515B802157A}"/>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mn-lt"/>
                <a:cs typeface="Arial" panose="020B0604020202020204" pitchFamily="34" charset="0"/>
              </a:rPr>
              <a:t>INTRODUCTION</a:t>
            </a:r>
          </a:p>
        </p:txBody>
      </p:sp>
      <p:sp>
        <p:nvSpPr>
          <p:cNvPr id="2" name="Slide Number Placeholder 1">
            <a:extLst>
              <a:ext uri="{FF2B5EF4-FFF2-40B4-BE49-F238E27FC236}">
                <a16:creationId xmlns:a16="http://schemas.microsoft.com/office/drawing/2014/main" id="{B8608BD0-994E-4EA0-A0B0-4FC8DE3010F6}"/>
              </a:ext>
            </a:extLst>
          </p:cNvPr>
          <p:cNvSpPr>
            <a:spLocks noGrp="1"/>
          </p:cNvSpPr>
          <p:nvPr>
            <p:ph type="sldNum" sz="quarter" idx="12"/>
          </p:nvPr>
        </p:nvSpPr>
        <p:spPr/>
        <p:txBody>
          <a:bodyPr/>
          <a:lstStyle/>
          <a:p>
            <a:fld id="{1825A77A-971A-3244-890F-3B99F774724A}" type="slidenum">
              <a:rPr lang="en-US" smtClean="0"/>
              <a:pPr/>
              <a:t>3</a:t>
            </a:fld>
            <a:endParaRPr lang="en-US" dirty="0"/>
          </a:p>
        </p:txBody>
      </p:sp>
    </p:spTree>
    <p:extLst>
      <p:ext uri="{BB962C8B-B14F-4D97-AF65-F5344CB8AC3E}">
        <p14:creationId xmlns:p14="http://schemas.microsoft.com/office/powerpoint/2010/main" val="3624884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EEE83A-6C8C-7541-9538-BD4C0FC9B8D1}"/>
              </a:ext>
            </a:extLst>
          </p:cNvPr>
          <p:cNvSpPr>
            <a:spLocks noGrp="1"/>
          </p:cNvSpPr>
          <p:nvPr>
            <p:ph sz="half" idx="1"/>
          </p:nvPr>
        </p:nvSpPr>
        <p:spPr>
          <a:xfrm>
            <a:off x="307910" y="998376"/>
            <a:ext cx="8472196" cy="5466818"/>
          </a:xfrm>
        </p:spPr>
        <p:txBody>
          <a:bodyPr>
            <a:normAutofit fontScale="85000" lnSpcReduction="20000"/>
          </a:bodyPr>
          <a:lstStyle/>
          <a:p>
            <a:pPr marL="0" indent="0" algn="just">
              <a:buNone/>
            </a:pPr>
            <a:r>
              <a:rPr lang="en-US" sz="1900" dirty="0">
                <a:latin typeface="Times New Roman" panose="02020603050405020304" pitchFamily="18" charset="0"/>
                <a:cs typeface="Times New Roman" panose="02020603050405020304" pitchFamily="18" charset="0"/>
              </a:rPr>
              <a:t>The dataset commonly used for breast cancer histopathology studies is </a:t>
            </a:r>
            <a:r>
              <a:rPr lang="en-US" sz="1900" dirty="0" err="1">
                <a:latin typeface="Times New Roman" panose="02020603050405020304" pitchFamily="18" charset="0"/>
                <a:cs typeface="Times New Roman" panose="02020603050405020304" pitchFamily="18" charset="0"/>
              </a:rPr>
              <a:t>BreakHis</a:t>
            </a:r>
            <a:r>
              <a:rPr lang="en-US" sz="1900" dirty="0">
                <a:latin typeface="Times New Roman" panose="02020603050405020304" pitchFamily="18" charset="0"/>
                <a:cs typeface="Times New Roman" panose="02020603050405020304" pitchFamily="18" charset="0"/>
              </a:rPr>
              <a:t>, which contains microscopic biopsy images captured at different magnification levels. It consists of 7,909 images collected from 82 patients, and the images are divided into Benign and Malignant classes. Each image is labeled based on its pathological s </a:t>
            </a:r>
            <a:r>
              <a:rPr lang="en-US" sz="1900" dirty="0" err="1">
                <a:latin typeface="Times New Roman" panose="02020603050405020304" pitchFamily="18" charset="0"/>
                <a:cs typeface="Times New Roman" panose="02020603050405020304" pitchFamily="18" charset="0"/>
              </a:rPr>
              <a:t>ubtype</a:t>
            </a:r>
            <a:r>
              <a:rPr lang="en-US" sz="1900" dirty="0">
                <a:latin typeface="Times New Roman" panose="02020603050405020304" pitchFamily="18" charset="0"/>
                <a:cs typeface="Times New Roman" panose="02020603050405020304" pitchFamily="18" charset="0"/>
              </a:rPr>
              <a:t>, allowing both binary and multi-class classification.</a:t>
            </a:r>
          </a:p>
          <a:p>
            <a:pPr marL="0" indent="0" algn="just">
              <a:buNone/>
            </a:pPr>
            <a:r>
              <a:rPr lang="en-US" dirty="0">
                <a:latin typeface="Times New Roman" panose="02020603050405020304" pitchFamily="18" charset="0"/>
                <a:cs typeface="Times New Roman" panose="02020603050405020304" pitchFamily="18" charset="0"/>
              </a:rPr>
              <a:t>Class Division:</a:t>
            </a:r>
          </a:p>
          <a:p>
            <a:pPr algn="just"/>
            <a:r>
              <a:rPr lang="en-US" sz="2100" dirty="0">
                <a:latin typeface="Times New Roman" panose="02020603050405020304" pitchFamily="18" charset="0"/>
                <a:cs typeface="Times New Roman" panose="02020603050405020304" pitchFamily="18" charset="0"/>
              </a:rPr>
              <a:t>Benign: 2,480 images</a:t>
            </a:r>
          </a:p>
          <a:p>
            <a:pPr algn="just"/>
            <a:r>
              <a:rPr lang="en-US" sz="2100" dirty="0">
                <a:latin typeface="Times New Roman" panose="02020603050405020304" pitchFamily="18" charset="0"/>
                <a:cs typeface="Times New Roman" panose="02020603050405020304" pitchFamily="18" charset="0"/>
              </a:rPr>
              <a:t>Malignant: 5,429 images</a:t>
            </a:r>
          </a:p>
          <a:p>
            <a:pPr marL="0" indent="0" algn="just">
              <a:buNone/>
            </a:pPr>
            <a:r>
              <a:rPr lang="en-US" sz="21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Benign Subtypes:</a:t>
            </a:r>
          </a:p>
          <a:p>
            <a:pPr algn="just"/>
            <a:r>
              <a:rPr lang="en-US" sz="2100" dirty="0">
                <a:latin typeface="Times New Roman" panose="02020603050405020304" pitchFamily="18" charset="0"/>
                <a:cs typeface="Times New Roman" panose="02020603050405020304" pitchFamily="18" charset="0"/>
              </a:rPr>
              <a:t>Adenosis</a:t>
            </a:r>
          </a:p>
          <a:p>
            <a:pPr algn="just"/>
            <a:r>
              <a:rPr lang="en-US" sz="2100" dirty="0">
                <a:latin typeface="Times New Roman" panose="02020603050405020304" pitchFamily="18" charset="0"/>
                <a:cs typeface="Times New Roman" panose="02020603050405020304" pitchFamily="18" charset="0"/>
              </a:rPr>
              <a:t>Fibroadenoma</a:t>
            </a:r>
          </a:p>
          <a:p>
            <a:pPr algn="just"/>
            <a:r>
              <a:rPr lang="en-US" sz="2100" dirty="0">
                <a:latin typeface="Times New Roman" panose="02020603050405020304" pitchFamily="18" charset="0"/>
                <a:cs typeface="Times New Roman" panose="02020603050405020304" pitchFamily="18" charset="0"/>
              </a:rPr>
              <a:t>Tubular Adenoma</a:t>
            </a:r>
          </a:p>
          <a:p>
            <a:pPr algn="just"/>
            <a:r>
              <a:rPr lang="en-US" sz="2100" dirty="0">
                <a:latin typeface="Times New Roman" panose="02020603050405020304" pitchFamily="18" charset="0"/>
                <a:cs typeface="Times New Roman" panose="02020603050405020304" pitchFamily="18" charset="0"/>
              </a:rPr>
              <a:t>Phyllodes Tumor</a:t>
            </a:r>
          </a:p>
          <a:p>
            <a:pPr marL="0" indent="0" algn="just">
              <a:buNone/>
            </a:pPr>
            <a:r>
              <a:rPr lang="en-US" dirty="0">
                <a:latin typeface="Times New Roman" panose="02020603050405020304" pitchFamily="18" charset="0"/>
                <a:cs typeface="Times New Roman" panose="02020603050405020304" pitchFamily="18" charset="0"/>
              </a:rPr>
              <a:t> Malignant Subtypes:</a:t>
            </a:r>
          </a:p>
          <a:p>
            <a:pPr algn="just"/>
            <a:r>
              <a:rPr lang="en-US" sz="2100" dirty="0">
                <a:latin typeface="Times New Roman" panose="02020603050405020304" pitchFamily="18" charset="0"/>
                <a:cs typeface="Times New Roman" panose="02020603050405020304" pitchFamily="18" charset="0"/>
              </a:rPr>
              <a:t>Ductal Carcinoma</a:t>
            </a:r>
          </a:p>
          <a:p>
            <a:pPr algn="just"/>
            <a:r>
              <a:rPr lang="en-US" sz="2100" dirty="0">
                <a:latin typeface="Times New Roman" panose="02020603050405020304" pitchFamily="18" charset="0"/>
                <a:cs typeface="Times New Roman" panose="02020603050405020304" pitchFamily="18" charset="0"/>
              </a:rPr>
              <a:t>Lobular Carcinoma</a:t>
            </a:r>
          </a:p>
          <a:p>
            <a:pPr algn="just"/>
            <a:r>
              <a:rPr lang="en-US" sz="2100" dirty="0">
                <a:latin typeface="Times New Roman" panose="02020603050405020304" pitchFamily="18" charset="0"/>
                <a:cs typeface="Times New Roman" panose="02020603050405020304" pitchFamily="18" charset="0"/>
              </a:rPr>
              <a:t>Papillary Carcinoma</a:t>
            </a:r>
          </a:p>
          <a:p>
            <a:pPr algn="just"/>
            <a:r>
              <a:rPr lang="en-US" sz="2100" dirty="0">
                <a:latin typeface="Times New Roman" panose="02020603050405020304" pitchFamily="18" charset="0"/>
                <a:cs typeface="Times New Roman" panose="02020603050405020304" pitchFamily="18" charset="0"/>
              </a:rPr>
              <a:t>Mucinous Carcinoma</a:t>
            </a:r>
          </a:p>
          <a:p>
            <a:pPr marL="0" indent="0">
              <a:buNone/>
            </a:pPr>
            <a:endParaRPr lang="en-US" sz="2000" dirty="0"/>
          </a:p>
        </p:txBody>
      </p:sp>
      <p:sp>
        <p:nvSpPr>
          <p:cNvPr id="4" name="Rectangle 2">
            <a:extLst>
              <a:ext uri="{FF2B5EF4-FFF2-40B4-BE49-F238E27FC236}">
                <a16:creationId xmlns:a16="http://schemas.microsoft.com/office/drawing/2014/main" id="{03C476EA-0E49-6541-BE5E-4D9CDA48CDD2}"/>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mn-lt"/>
                <a:cs typeface="Arial" panose="020B0604020202020204" pitchFamily="34" charset="0"/>
              </a:rPr>
              <a:t>DATASET OVERVIEW</a:t>
            </a:r>
          </a:p>
        </p:txBody>
      </p:sp>
      <p:sp>
        <p:nvSpPr>
          <p:cNvPr id="2" name="Slide Number Placeholder 1">
            <a:extLst>
              <a:ext uri="{FF2B5EF4-FFF2-40B4-BE49-F238E27FC236}">
                <a16:creationId xmlns:a16="http://schemas.microsoft.com/office/drawing/2014/main" id="{6CF13B53-3C52-41FD-87EB-9108EC99222B}"/>
              </a:ext>
            </a:extLst>
          </p:cNvPr>
          <p:cNvSpPr>
            <a:spLocks noGrp="1"/>
          </p:cNvSpPr>
          <p:nvPr>
            <p:ph type="sldNum" sz="quarter" idx="12"/>
          </p:nvPr>
        </p:nvSpPr>
        <p:spPr>
          <a:xfrm>
            <a:off x="6407798" y="6100069"/>
            <a:ext cx="2057400" cy="365125"/>
          </a:xfrm>
        </p:spPr>
        <p:txBody>
          <a:bodyPr/>
          <a:lstStyle/>
          <a:p>
            <a:fld id="{1825A77A-971A-3244-890F-3B99F774724A}" type="slidenum">
              <a:rPr lang="en-US" smtClean="0"/>
              <a:pPr/>
              <a:t>4</a:t>
            </a:fld>
            <a:endParaRPr lang="en-US" dirty="0"/>
          </a:p>
        </p:txBody>
      </p:sp>
    </p:spTree>
    <p:extLst>
      <p:ext uri="{BB962C8B-B14F-4D97-AF65-F5344CB8AC3E}">
        <p14:creationId xmlns:p14="http://schemas.microsoft.com/office/powerpoint/2010/main" val="3757677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624C1200-80BB-1D4D-8DF7-28BFE7F023B4}"/>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mn-lt"/>
                <a:cs typeface="Arial" panose="020B0604020202020204" pitchFamily="34" charset="0"/>
              </a:rPr>
              <a:t>DATASET ( Content Breakdown)</a:t>
            </a:r>
          </a:p>
        </p:txBody>
      </p:sp>
      <p:sp>
        <p:nvSpPr>
          <p:cNvPr id="15" name="Text Placeholder 14">
            <a:extLst>
              <a:ext uri="{FF2B5EF4-FFF2-40B4-BE49-F238E27FC236}">
                <a16:creationId xmlns:a16="http://schemas.microsoft.com/office/drawing/2014/main" id="{1C3C349B-4585-3D43-8B4A-1B616575FFD5}"/>
              </a:ext>
            </a:extLst>
          </p:cNvPr>
          <p:cNvSpPr>
            <a:spLocks noGrp="1"/>
          </p:cNvSpPr>
          <p:nvPr>
            <p:ph type="body" sz="half" idx="2"/>
          </p:nvPr>
        </p:nvSpPr>
        <p:spPr>
          <a:xfrm>
            <a:off x="289249" y="1017036"/>
            <a:ext cx="8630815" cy="5561045"/>
          </a:xfrm>
        </p:spPr>
        <p:txBody>
          <a:bodyPr>
            <a:normAutofit fontScale="92500" lnSpcReduction="20000"/>
          </a:bodyPr>
          <a:lstStyle/>
          <a:p>
            <a:r>
              <a:rPr lang="en-US" sz="1800" u="sng" dirty="0">
                <a:latin typeface="Times New Roman" panose="02020603050405020304" pitchFamily="18" charset="0"/>
                <a:cs typeface="Times New Roman" panose="02020603050405020304" pitchFamily="18" charset="0"/>
              </a:rPr>
              <a:t>WHAT TO EXPECT FROM THE DATASET AND ITS CONTENTS: </a:t>
            </a:r>
          </a:p>
          <a:p>
            <a:r>
              <a:rPr lang="en-US" dirty="0">
                <a:latin typeface="Times New Roman" panose="02020603050405020304" pitchFamily="18" charset="0"/>
                <a:cs typeface="Times New Roman" panose="02020603050405020304" pitchFamily="18" charset="0"/>
              </a:rPr>
              <a:t>The Breast Cancer Histopathological Image Classification (</a:t>
            </a:r>
            <a:r>
              <a:rPr lang="en-US" dirty="0" err="1">
                <a:latin typeface="Times New Roman" panose="02020603050405020304" pitchFamily="18" charset="0"/>
                <a:cs typeface="Times New Roman" panose="02020603050405020304" pitchFamily="18" charset="0"/>
              </a:rPr>
              <a:t>BreakHis</a:t>
            </a:r>
            <a:r>
              <a:rPr lang="en-US" dirty="0">
                <a:latin typeface="Times New Roman" panose="02020603050405020304" pitchFamily="18" charset="0"/>
                <a:cs typeface="Times New Roman" panose="02020603050405020304" pitchFamily="18" charset="0"/>
              </a:rPr>
              <a:t>) is composed of 7,909 microscopic images of breast tumor tissue collected from 82 patients using different magnifying factors (40X, 100X, 200X, and 400X). To date, it contains 2,480 benign and 5,429 malignant samples (700X460 pixels, 3-channel RGB, 8-bit depth in each channel, PNG format)</a:t>
            </a:r>
          </a:p>
          <a:p>
            <a:r>
              <a:rPr lang="en-US" b="1" dirty="0">
                <a:latin typeface="Times New Roman" panose="02020603050405020304" pitchFamily="18" charset="0"/>
                <a:cs typeface="Times New Roman" panose="02020603050405020304" pitchFamily="18" charset="0"/>
              </a:rPr>
              <a:t>DATASET consists of :</a:t>
            </a:r>
          </a:p>
          <a:p>
            <a:pPr lvl="0"/>
            <a:r>
              <a:rPr lang="en-US" dirty="0">
                <a:latin typeface="Times New Roman" panose="02020603050405020304" pitchFamily="18" charset="0"/>
                <a:cs typeface="Times New Roman" panose="02020603050405020304" pitchFamily="18" charset="0"/>
              </a:rPr>
              <a:t>7909 microscopic images</a:t>
            </a:r>
          </a:p>
          <a:p>
            <a:pPr lvl="0"/>
            <a:r>
              <a:rPr lang="en-US" dirty="0">
                <a:latin typeface="Times New Roman" panose="02020603050405020304" pitchFamily="18" charset="0"/>
                <a:cs typeface="Times New Roman" panose="02020603050405020304" pitchFamily="18" charset="0"/>
              </a:rPr>
              <a:t>70% training data </a:t>
            </a:r>
          </a:p>
          <a:p>
            <a:pPr lvl="0"/>
            <a:r>
              <a:rPr lang="en-US" dirty="0">
                <a:latin typeface="Times New Roman" panose="02020603050405020304" pitchFamily="18" charset="0"/>
                <a:cs typeface="Times New Roman" panose="02020603050405020304" pitchFamily="18" charset="0"/>
              </a:rPr>
              <a:t>15% validation data</a:t>
            </a:r>
          </a:p>
          <a:p>
            <a:pPr lvl="0"/>
            <a:r>
              <a:rPr lang="en-US" dirty="0">
                <a:latin typeface="Times New Roman" panose="02020603050405020304" pitchFamily="18" charset="0"/>
                <a:cs typeface="Times New Roman" panose="02020603050405020304" pitchFamily="18" charset="0"/>
              </a:rPr>
              <a:t>15% testing data</a:t>
            </a:r>
          </a:p>
          <a:p>
            <a:r>
              <a:rPr lang="en-US" dirty="0">
                <a:latin typeface="Times New Roman" panose="02020603050405020304" pitchFamily="18" charset="0"/>
                <a:cs typeface="Times New Roman" panose="02020603050405020304" pitchFamily="18" charset="0"/>
              </a:rPr>
              <a:t>The dataset currently contains four histological distinct types of benign breast tumors: adenosis (A), fibroadenoma (F), phyllodes tumor (PT), and tubular </a:t>
            </a:r>
            <a:r>
              <a:rPr lang="en-US" dirty="0" err="1">
                <a:latin typeface="Times New Roman" panose="02020603050405020304" pitchFamily="18" charset="0"/>
                <a:cs typeface="Times New Roman" panose="02020603050405020304" pitchFamily="18" charset="0"/>
              </a:rPr>
              <a:t>adenona</a:t>
            </a:r>
            <a:r>
              <a:rPr lang="en-US" dirty="0">
                <a:latin typeface="Times New Roman" panose="02020603050405020304" pitchFamily="18" charset="0"/>
                <a:cs typeface="Times New Roman" panose="02020603050405020304" pitchFamily="18" charset="0"/>
              </a:rPr>
              <a:t> (TA); and four malignant tumors (breast cancer): carcinoma (DC), lobular carcinoma (LC), mucinous carcinoma (MC) and papillary carcinoma (PC).</a:t>
            </a:r>
          </a:p>
          <a:p>
            <a:r>
              <a:rPr lang="en-US" dirty="0"/>
              <a:t>The model was trained on eight classes of breast tumor histopathology images using a cosine-annealing learning rate schedule, achieving steady improvements across epochs. Training accuracy stabilized around 66–67%, while validation accuracy fluctuated due to the cyclical learning rate pattern. The training loss decreased progressively from around 1.77 to 1.16, showing the model’s convergence. The best model was saved based on macro-F1 score, which indicates balanced performance across all classes despite class imbalance in the </a:t>
            </a:r>
            <a:r>
              <a:rPr lang="en-US" dirty="0" err="1"/>
              <a:t>dataset.On</a:t>
            </a:r>
            <a:r>
              <a:rPr lang="en-US" dirty="0"/>
              <a:t> the test set, the model achieved a loss of 1.1393, accuracy of 76.72%, and a Macro-F1 score of 0.7616, indicating strong generalization.</a:t>
            </a:r>
          </a:p>
          <a:p>
            <a:r>
              <a:rPr lang="en-US" dirty="0"/>
              <a:t>Among the classes, Adenosis and Ductal Carcinoma performed particularly well with F1 scores of 0.8811 and 0.7933, while Lobular Carcinoma and Phyllodes Tumor had comparatively lower scores (0.6587 and 0.6980). The macro average (0.7317 precision, 0.8188 recall) reflects consistent recall across classes, suggesting that the model is better at identifying positive cases even when precision varies slightly. Overall, the classifier shows robust performance with potential for further improvement through fine-tuning or data balancing.</a:t>
            </a:r>
          </a:p>
          <a:p>
            <a:endParaRPr lang="en-US" dirty="0"/>
          </a:p>
          <a:p>
            <a:endParaRPr lang="en-US" sz="2000" dirty="0"/>
          </a:p>
        </p:txBody>
      </p:sp>
      <p:sp>
        <p:nvSpPr>
          <p:cNvPr id="2" name="Slide Number Placeholder 1">
            <a:extLst>
              <a:ext uri="{FF2B5EF4-FFF2-40B4-BE49-F238E27FC236}">
                <a16:creationId xmlns:a16="http://schemas.microsoft.com/office/drawing/2014/main" id="{2D885912-8FC9-4054-A0FC-DF8FEDA22A96}"/>
              </a:ext>
            </a:extLst>
          </p:cNvPr>
          <p:cNvSpPr>
            <a:spLocks noGrp="1"/>
          </p:cNvSpPr>
          <p:nvPr>
            <p:ph type="sldNum" sz="quarter" idx="12"/>
          </p:nvPr>
        </p:nvSpPr>
        <p:spPr/>
        <p:txBody>
          <a:bodyPr/>
          <a:lstStyle/>
          <a:p>
            <a:fld id="{1825A77A-971A-3244-890F-3B99F774724A}" type="slidenum">
              <a:rPr lang="en-US" smtClean="0"/>
              <a:pPr/>
              <a:t>5</a:t>
            </a:fld>
            <a:endParaRPr lang="en-US" dirty="0"/>
          </a:p>
        </p:txBody>
      </p:sp>
    </p:spTree>
    <p:extLst>
      <p:ext uri="{BB962C8B-B14F-4D97-AF65-F5344CB8AC3E}">
        <p14:creationId xmlns:p14="http://schemas.microsoft.com/office/powerpoint/2010/main" val="2880750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C50743A-09CD-414F-8C62-1F7818E595C8}"/>
              </a:ext>
            </a:extLst>
          </p:cNvPr>
          <p:cNvSpPr>
            <a:spLocks noGrp="1"/>
          </p:cNvSpPr>
          <p:nvPr>
            <p:ph type="sldNum" sz="quarter" idx="12"/>
          </p:nvPr>
        </p:nvSpPr>
        <p:spPr/>
        <p:txBody>
          <a:bodyPr/>
          <a:lstStyle/>
          <a:p>
            <a:fld id="{1825A77A-971A-3244-890F-3B99F774724A}" type="slidenum">
              <a:rPr lang="en-US" smtClean="0"/>
              <a:pPr/>
              <a:t>6</a:t>
            </a:fld>
            <a:endParaRPr lang="en-US" dirty="0"/>
          </a:p>
        </p:txBody>
      </p:sp>
      <p:sp>
        <p:nvSpPr>
          <p:cNvPr id="6" name="Content Placeholder 5">
            <a:extLst>
              <a:ext uri="{FF2B5EF4-FFF2-40B4-BE49-F238E27FC236}">
                <a16:creationId xmlns:a16="http://schemas.microsoft.com/office/drawing/2014/main" id="{121A61DF-FFA6-4A49-9806-53C995A22677}"/>
              </a:ext>
            </a:extLst>
          </p:cNvPr>
          <p:cNvSpPr>
            <a:spLocks noGrp="1"/>
          </p:cNvSpPr>
          <p:nvPr>
            <p:ph sz="half" idx="1"/>
          </p:nvPr>
        </p:nvSpPr>
        <p:spPr>
          <a:xfrm>
            <a:off x="242596" y="1007706"/>
            <a:ext cx="8272754" cy="5162688"/>
          </a:xfrm>
        </p:spPr>
        <p:txBody>
          <a:bodyPr>
            <a:normAutofit fontScale="70000" lnSpcReduction="20000"/>
          </a:bodyPr>
          <a:lstStyle/>
          <a:p>
            <a:r>
              <a:rPr lang="en-US" dirty="0"/>
              <a:t>The backbone of the proposed framework is the EfficientNet-B5 architecture, pretrained on the ImageNet dataset. </a:t>
            </a:r>
            <a:r>
              <a:rPr lang="en-US" dirty="0" err="1"/>
              <a:t>EfficientNet</a:t>
            </a:r>
            <a:r>
              <a:rPr lang="en-US" dirty="0"/>
              <a:t> leverages a compound scaling strategy that simultaneously scales network depth, width, and input resolution, enabling the B5 variant to capture more fine-grained visual patterns while maintaining strong computational efficiency. With its higher resolution input (456×456) and expanded capacity, EfficientNet-B5 is particularly effective for modeling complex histopathological structures in breast cancer imagery.</a:t>
            </a:r>
          </a:p>
          <a:p>
            <a:r>
              <a:rPr lang="en-US" dirty="0"/>
              <a:t>For our task, the final classification layer of EfficientNet-B5 was replaced with a custom fully connected head consisting of:</a:t>
            </a:r>
          </a:p>
          <a:p>
            <a:pPr lvl="0"/>
            <a:r>
              <a:rPr lang="en-US" dirty="0"/>
              <a:t>A linear layer with 512 hidden units,</a:t>
            </a:r>
          </a:p>
          <a:p>
            <a:pPr lvl="0"/>
            <a:r>
              <a:rPr lang="en-US" dirty="0"/>
              <a:t>A </a:t>
            </a:r>
            <a:r>
              <a:rPr lang="en-US" dirty="0" err="1"/>
              <a:t>ReLU</a:t>
            </a:r>
            <a:r>
              <a:rPr lang="en-US" dirty="0"/>
              <a:t> activation function,</a:t>
            </a:r>
          </a:p>
          <a:p>
            <a:pPr lvl="0"/>
            <a:r>
              <a:rPr lang="en-US" dirty="0"/>
              <a:t>A dropout layer (0.35 rate) to reduce overfitting,</a:t>
            </a:r>
          </a:p>
          <a:p>
            <a:pPr lvl="0"/>
            <a:r>
              <a:rPr lang="en-US" dirty="0"/>
              <a:t>A final linear layer mapping to the 8 output classes corresponding to the </a:t>
            </a:r>
            <a:r>
              <a:rPr lang="en-US" dirty="0" err="1"/>
              <a:t>BreakHis</a:t>
            </a:r>
            <a:r>
              <a:rPr lang="en-US" dirty="0"/>
              <a:t> subclasses.</a:t>
            </a:r>
          </a:p>
          <a:p>
            <a:r>
              <a:rPr lang="en-US" dirty="0"/>
              <a:t>To stabilize training and preserve foundational visual representations, all backbone layers were frozen except for the final convolutional block. This selective fine-tuning allows the model to adapt to dataset-specific histopathological features while preventing overfitting and maintaining the robustness of the pretrained EfficientNet-B5 feature extractor.</a:t>
            </a:r>
          </a:p>
          <a:p>
            <a:pPr marL="0" indent="0">
              <a:buNone/>
            </a:pPr>
            <a:endParaRPr lang="en-US" dirty="0"/>
          </a:p>
          <a:p>
            <a:pPr marL="0" indent="0">
              <a:buNone/>
            </a:pPr>
            <a:endParaRPr lang="en-US" dirty="0"/>
          </a:p>
        </p:txBody>
      </p:sp>
      <p:sp>
        <p:nvSpPr>
          <p:cNvPr id="5" name="TextBox 4">
            <a:extLst>
              <a:ext uri="{FF2B5EF4-FFF2-40B4-BE49-F238E27FC236}">
                <a16:creationId xmlns:a16="http://schemas.microsoft.com/office/drawing/2014/main" id="{BED9098E-5BEC-EE4C-91E9-41A1CB5F73B3}"/>
              </a:ext>
            </a:extLst>
          </p:cNvPr>
          <p:cNvSpPr txBox="1"/>
          <p:nvPr/>
        </p:nvSpPr>
        <p:spPr>
          <a:xfrm>
            <a:off x="3200401" y="2971800"/>
            <a:ext cx="184731" cy="248209"/>
          </a:xfrm>
          <a:prstGeom prst="rect">
            <a:avLst/>
          </a:prstGeom>
          <a:noFill/>
        </p:spPr>
        <p:txBody>
          <a:bodyPr wrap="none" rtlCol="0">
            <a:spAutoFit/>
          </a:bodyPr>
          <a:lstStyle/>
          <a:p>
            <a:endParaRPr lang="en-US" sz="1013" dirty="0"/>
          </a:p>
        </p:txBody>
      </p:sp>
      <p:sp>
        <p:nvSpPr>
          <p:cNvPr id="15" name="Rectangle 2">
            <a:extLst>
              <a:ext uri="{FF2B5EF4-FFF2-40B4-BE49-F238E27FC236}">
                <a16:creationId xmlns:a16="http://schemas.microsoft.com/office/drawing/2014/main" id="{5A592D5E-3BD8-EC4C-BD33-D0A1D81B4F74}"/>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mn-lt"/>
                <a:cs typeface="Arial" panose="020B0604020202020204" pitchFamily="34" charset="0"/>
              </a:rPr>
              <a:t>MODEL ARCHITECTURE OVERVIEW</a:t>
            </a:r>
          </a:p>
        </p:txBody>
      </p:sp>
    </p:spTree>
    <p:extLst>
      <p:ext uri="{BB962C8B-B14F-4D97-AF65-F5344CB8AC3E}">
        <p14:creationId xmlns:p14="http://schemas.microsoft.com/office/powerpoint/2010/main" val="899697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DEDEE6-3337-3FEF-C6B9-A093C95A974B}"/>
              </a:ext>
            </a:extLst>
          </p:cNvPr>
          <p:cNvSpPr>
            <a:spLocks noGrp="1"/>
          </p:cNvSpPr>
          <p:nvPr>
            <p:ph type="sldNum" sz="quarter" idx="12"/>
          </p:nvPr>
        </p:nvSpPr>
        <p:spPr>
          <a:xfrm>
            <a:off x="6457950" y="6356351"/>
            <a:ext cx="2057400" cy="365125"/>
          </a:xfrm>
        </p:spPr>
        <p:txBody>
          <a:bodyPr anchor="ctr">
            <a:normAutofit/>
          </a:bodyPr>
          <a:lstStyle/>
          <a:p>
            <a:pPr>
              <a:spcAft>
                <a:spcPts val="600"/>
              </a:spcAft>
            </a:pPr>
            <a:fld id="{1825A77A-971A-3244-890F-3B99F774724A}" type="slidenum">
              <a:rPr lang="en-US" smtClean="0"/>
              <a:pPr>
                <a:spcAft>
                  <a:spcPts val="600"/>
                </a:spcAft>
              </a:pPr>
              <a:t>7</a:t>
            </a:fld>
            <a:endParaRPr lang="en-US"/>
          </a:p>
        </p:txBody>
      </p:sp>
      <p:sp>
        <p:nvSpPr>
          <p:cNvPr id="12" name="AutoShape 10" descr="The Model architecture leverages EfficientNet B3-B5 Tan and Le [2019] backbones which are then passed on through the batch-normalization layer and further sub divided into two sub networks where one network convolves the feature maps and generate the attention weights which are then multiplied with second sub network element-wise and finally generate the narrowing/erosion scores after passing through the dense layers">
            <a:extLst>
              <a:ext uri="{FF2B5EF4-FFF2-40B4-BE49-F238E27FC236}">
                <a16:creationId xmlns:a16="http://schemas.microsoft.com/office/drawing/2014/main" id="{4B487E6E-462F-13F0-3ABA-0BF85D1E0E4B}"/>
              </a:ext>
            </a:extLst>
          </p:cNvPr>
          <p:cNvSpPr>
            <a:spLocks noChangeAspect="1" noChangeArrowheads="1"/>
          </p:cNvSpPr>
          <p:nvPr/>
        </p:nvSpPr>
        <p:spPr bwMode="auto">
          <a:xfrm flipV="1">
            <a:off x="3349689" y="3733800"/>
            <a:ext cx="4497355" cy="152711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The Model architecture leverages EfficientNet B3-B5 Tan and Le [2019] backbones which are then passed on through the batch-normalization layer and further sub divided into two sub networks where one network convolves the feature maps and generate the attention weights which are then multiplied with second sub network element-wise and finally generate the narrowing/erosion scores after passing through the dense layers">
            <a:extLst>
              <a:ext uri="{FF2B5EF4-FFF2-40B4-BE49-F238E27FC236}">
                <a16:creationId xmlns:a16="http://schemas.microsoft.com/office/drawing/2014/main" id="{13A377A3-360F-AD38-C97B-4F7E4E0B0CD1}"/>
              </a:ext>
            </a:extLst>
          </p:cNvPr>
          <p:cNvSpPr>
            <a:spLocks noChangeAspect="1" noChangeArrowheads="1"/>
          </p:cNvSpPr>
          <p:nvPr/>
        </p:nvSpPr>
        <p:spPr bwMode="auto">
          <a:xfrm>
            <a:off x="1399592" y="3429000"/>
            <a:ext cx="3477208"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descr="A diagram of a data flow&#10;&#10;AI-generated content may be incorrect.">
            <a:extLst>
              <a:ext uri="{FF2B5EF4-FFF2-40B4-BE49-F238E27FC236}">
                <a16:creationId xmlns:a16="http://schemas.microsoft.com/office/drawing/2014/main" id="{4A226350-FC91-8E68-7814-8DC299DDC906}"/>
              </a:ext>
            </a:extLst>
          </p:cNvPr>
          <p:cNvPicPr>
            <a:picLocks noChangeAspect="1"/>
          </p:cNvPicPr>
          <p:nvPr/>
        </p:nvPicPr>
        <p:blipFill>
          <a:blip r:embed="rId2"/>
          <a:stretch>
            <a:fillRect/>
          </a:stretch>
        </p:blipFill>
        <p:spPr>
          <a:xfrm>
            <a:off x="1670451" y="1088938"/>
            <a:ext cx="5691401" cy="2272278"/>
          </a:xfrm>
          <a:prstGeom prst="rect">
            <a:avLst/>
          </a:prstGeom>
        </p:spPr>
      </p:pic>
      <p:pic>
        <p:nvPicPr>
          <p:cNvPr id="2062" name="Picture 14" descr="Different Types of CNN Architectures Explained: Examples">
            <a:extLst>
              <a:ext uri="{FF2B5EF4-FFF2-40B4-BE49-F238E27FC236}">
                <a16:creationId xmlns:a16="http://schemas.microsoft.com/office/drawing/2014/main" id="{0FBF78F6-8860-87DE-7696-20FC1904A3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074" y="3548229"/>
            <a:ext cx="7361852" cy="2398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7714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57A697-F0BF-8A56-7F85-D81C9077AD9F}"/>
              </a:ext>
            </a:extLst>
          </p:cNvPr>
          <p:cNvSpPr>
            <a:spLocks noGrp="1"/>
          </p:cNvSpPr>
          <p:nvPr>
            <p:ph type="sldNum" sz="quarter" idx="12"/>
          </p:nvPr>
        </p:nvSpPr>
        <p:spPr/>
        <p:txBody>
          <a:bodyPr/>
          <a:lstStyle/>
          <a:p>
            <a:fld id="{1825A77A-971A-3244-890F-3B99F774724A}" type="slidenum">
              <a:rPr lang="en-US" smtClean="0"/>
              <a:pPr/>
              <a:t>8</a:t>
            </a:fld>
            <a:endParaRPr lang="en-US" dirty="0"/>
          </a:p>
        </p:txBody>
      </p:sp>
      <p:sp>
        <p:nvSpPr>
          <p:cNvPr id="4" name="Content Placeholder 3">
            <a:extLst>
              <a:ext uri="{FF2B5EF4-FFF2-40B4-BE49-F238E27FC236}">
                <a16:creationId xmlns:a16="http://schemas.microsoft.com/office/drawing/2014/main" id="{3D3577EC-09EC-C629-C6B8-C9BA108A9D6D}"/>
              </a:ext>
            </a:extLst>
          </p:cNvPr>
          <p:cNvSpPr>
            <a:spLocks noGrp="1"/>
          </p:cNvSpPr>
          <p:nvPr>
            <p:ph sz="half" idx="1"/>
          </p:nvPr>
        </p:nvSpPr>
        <p:spPr>
          <a:xfrm>
            <a:off x="628650" y="1091682"/>
            <a:ext cx="7886700" cy="5078712"/>
          </a:xfrm>
        </p:spPr>
        <p:txBody>
          <a:bodyPr>
            <a:normAutofit lnSpcReduction="10000"/>
          </a:bodyPr>
          <a:lstStyle/>
          <a:p>
            <a:pPr marL="0" indent="0" algn="just">
              <a:buNone/>
            </a:pPr>
            <a:r>
              <a:rPr lang="en-US" sz="1800" dirty="0"/>
              <a:t>Ef</a:t>
            </a:r>
            <a:r>
              <a:rPr lang="en-US" sz="1800" dirty="0">
                <a:latin typeface="Times New Roman" panose="02020603050405020304" pitchFamily="18" charset="0"/>
                <a:cs typeface="Times New Roman" panose="02020603050405020304" pitchFamily="18" charset="0"/>
              </a:rPr>
              <a:t>ficientNet-B5 was selected for this code because it provides a strong and well-balanced architecture for handling the high-resolution and complex nature of breast cancer histopathology images while remaining computationally efficient. The architecture is particularly suitable for medical image classification tasks where subtle visual differences between classes must be captured reliably, and where overfitting is a concern due to limited labeled data.</a:t>
            </a:r>
          </a:p>
          <a:p>
            <a:pPr marL="0" indent="0" algn="just">
              <a:buNone/>
            </a:pPr>
            <a:r>
              <a:rPr lang="en-US" sz="1800" dirty="0">
                <a:latin typeface="Times New Roman" panose="02020603050405020304" pitchFamily="18" charset="0"/>
                <a:cs typeface="Times New Roman" panose="02020603050405020304" pitchFamily="18" charset="0"/>
              </a:rPr>
              <a:t>EfficientNet-B5 uses compound scaling to jointly optimize network depth, width, and input resolution, allowing it to capture both fine cellular details and global tissue structures present in histopathology </a:t>
            </a:r>
            <a:r>
              <a:rPr lang="en-US" sz="1800" dirty="0" err="1">
                <a:latin typeface="Times New Roman" panose="02020603050405020304" pitchFamily="18" charset="0"/>
                <a:cs typeface="Times New Roman" panose="02020603050405020304" pitchFamily="18" charset="0"/>
              </a:rPr>
              <a:t>images.The</a:t>
            </a:r>
            <a:r>
              <a:rPr lang="en-US" sz="1800" dirty="0">
                <a:latin typeface="Times New Roman" panose="02020603050405020304" pitchFamily="18" charset="0"/>
                <a:cs typeface="Times New Roman" panose="02020603050405020304" pitchFamily="18" charset="0"/>
              </a:rPr>
              <a:t> use of Mobile Inverted Bottleneck (</a:t>
            </a:r>
            <a:r>
              <a:rPr lang="en-US" sz="1800" dirty="0" err="1">
                <a:latin typeface="Times New Roman" panose="02020603050405020304" pitchFamily="18" charset="0"/>
                <a:cs typeface="Times New Roman" panose="02020603050405020304" pitchFamily="18" charset="0"/>
              </a:rPr>
              <a:t>MBConv</a:t>
            </a:r>
            <a:r>
              <a:rPr lang="en-US" sz="1800" dirty="0">
                <a:latin typeface="Times New Roman" panose="02020603050405020304" pitchFamily="18" charset="0"/>
                <a:cs typeface="Times New Roman" panose="02020603050405020304" pitchFamily="18" charset="0"/>
              </a:rPr>
              <a:t>) blocks significantly reduces computational cost while maintaining high representational power, making the model efficient for large image </a:t>
            </a:r>
            <a:r>
              <a:rPr lang="en-US" sz="1800" dirty="0" err="1">
                <a:latin typeface="Times New Roman" panose="02020603050405020304" pitchFamily="18" charset="0"/>
                <a:cs typeface="Times New Roman" panose="02020603050405020304" pitchFamily="18" charset="0"/>
              </a:rPr>
              <a:t>inputs.Squeeze</a:t>
            </a:r>
            <a:r>
              <a:rPr lang="en-US" sz="1800" dirty="0">
                <a:latin typeface="Times New Roman" panose="02020603050405020304" pitchFamily="18" charset="0"/>
                <a:cs typeface="Times New Roman" panose="02020603050405020304" pitchFamily="18" charset="0"/>
              </a:rPr>
              <a:t>-and-Excitation attention modules within the architecture help the network focus on diagnostically important regions, such as nuclei and abnormal tissue patterns, which are critical for breast cancer subtype classification.</a:t>
            </a:r>
          </a:p>
          <a:p>
            <a:pPr marL="0" indent="0" algn="just">
              <a:buNone/>
            </a:pPr>
            <a:r>
              <a:rPr lang="en-US" sz="1800" dirty="0">
                <a:latin typeface="Times New Roman" panose="02020603050405020304" pitchFamily="18" charset="0"/>
                <a:cs typeface="Times New Roman" panose="02020603050405020304" pitchFamily="18" charset="0"/>
              </a:rPr>
              <a:t>The architecture supports transfer learning effectively, enabling the reuse of ImageNet-pretrained features and stable fine-tuning on the </a:t>
            </a:r>
            <a:r>
              <a:rPr lang="en-US" sz="1800" dirty="0" err="1">
                <a:latin typeface="Times New Roman" panose="02020603050405020304" pitchFamily="18" charset="0"/>
                <a:cs typeface="Times New Roman" panose="02020603050405020304" pitchFamily="18" charset="0"/>
              </a:rPr>
              <a:t>BreakHis</a:t>
            </a:r>
            <a:r>
              <a:rPr lang="en-US" sz="1800" dirty="0">
                <a:latin typeface="Times New Roman" panose="02020603050405020304" pitchFamily="18" charset="0"/>
                <a:cs typeface="Times New Roman" panose="02020603050405020304" pitchFamily="18" charset="0"/>
              </a:rPr>
              <a:t> dataset with limited medical data.EfficientNet-B5 integrates well with regularization and stabilization techniques used in this code, such as </a:t>
            </a:r>
            <a:r>
              <a:rPr lang="en-US" sz="1800" dirty="0" err="1">
                <a:latin typeface="Times New Roman" panose="02020603050405020304" pitchFamily="18" charset="0"/>
                <a:cs typeface="Times New Roman" panose="02020603050405020304" pitchFamily="18" charset="0"/>
              </a:rPr>
              <a:t>MixUp</a:t>
            </a:r>
            <a:r>
              <a:rPr lang="en-US" sz="1800" dirty="0">
                <a:latin typeface="Times New Roman" panose="02020603050405020304" pitchFamily="18" charset="0"/>
                <a:cs typeface="Times New Roman" panose="02020603050405020304" pitchFamily="18" charset="0"/>
              </a:rPr>
              <a:t>, class-weighted loss, EMA, and test-time augmentation, resulting in improved generalization and robust performance across all classes.</a:t>
            </a:r>
          </a:p>
        </p:txBody>
      </p:sp>
      <p:sp>
        <p:nvSpPr>
          <p:cNvPr id="7" name="TextBox 6">
            <a:extLst>
              <a:ext uri="{FF2B5EF4-FFF2-40B4-BE49-F238E27FC236}">
                <a16:creationId xmlns:a16="http://schemas.microsoft.com/office/drawing/2014/main" id="{FC2D3B5F-BE02-F2D0-A94C-42CF3554301E}"/>
              </a:ext>
            </a:extLst>
          </p:cNvPr>
          <p:cNvSpPr txBox="1"/>
          <p:nvPr/>
        </p:nvSpPr>
        <p:spPr>
          <a:xfrm>
            <a:off x="699796" y="195942"/>
            <a:ext cx="6158204" cy="523220"/>
          </a:xfrm>
          <a:prstGeom prst="rect">
            <a:avLst/>
          </a:prstGeom>
          <a:noFill/>
        </p:spPr>
        <p:txBody>
          <a:bodyPr wrap="square" rtlCol="0">
            <a:spAutoFit/>
          </a:bodyPr>
          <a:lstStyle/>
          <a:p>
            <a:r>
              <a:rPr lang="en-US" altLang="en-US" sz="2800" b="1" dirty="0">
                <a:solidFill>
                  <a:schemeClr val="bg1"/>
                </a:solidFill>
                <a:cs typeface="Arial" panose="020B0604020202020204" pitchFamily="34" charset="0"/>
              </a:rPr>
              <a:t>WHY THIS ARCHITECTURE</a:t>
            </a:r>
          </a:p>
        </p:txBody>
      </p:sp>
    </p:spTree>
    <p:extLst>
      <p:ext uri="{BB962C8B-B14F-4D97-AF65-F5344CB8AC3E}">
        <p14:creationId xmlns:p14="http://schemas.microsoft.com/office/powerpoint/2010/main" val="186099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AEAB0-B871-7D6B-4622-A186F434668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614AC4-44FF-C86A-9D6D-08F39F252EF1}"/>
              </a:ext>
            </a:extLst>
          </p:cNvPr>
          <p:cNvSpPr>
            <a:spLocks noGrp="1"/>
          </p:cNvSpPr>
          <p:nvPr>
            <p:ph type="sldNum" sz="quarter" idx="12"/>
          </p:nvPr>
        </p:nvSpPr>
        <p:spPr/>
        <p:txBody>
          <a:bodyPr/>
          <a:lstStyle/>
          <a:p>
            <a:fld id="{1825A77A-971A-3244-890F-3B99F774724A}" type="slidenum">
              <a:rPr lang="en-US" smtClean="0"/>
              <a:pPr/>
              <a:t>9</a:t>
            </a:fld>
            <a:endParaRPr lang="en-US" dirty="0"/>
          </a:p>
        </p:txBody>
      </p:sp>
      <p:sp>
        <p:nvSpPr>
          <p:cNvPr id="4" name="Content Placeholder 3">
            <a:extLst>
              <a:ext uri="{FF2B5EF4-FFF2-40B4-BE49-F238E27FC236}">
                <a16:creationId xmlns:a16="http://schemas.microsoft.com/office/drawing/2014/main" id="{CAE55B1B-018E-5B32-C833-C85BB0BEBD6C}"/>
              </a:ext>
            </a:extLst>
          </p:cNvPr>
          <p:cNvSpPr>
            <a:spLocks noGrp="1"/>
          </p:cNvSpPr>
          <p:nvPr>
            <p:ph sz="half" idx="1"/>
          </p:nvPr>
        </p:nvSpPr>
        <p:spPr>
          <a:xfrm>
            <a:off x="628650" y="1091682"/>
            <a:ext cx="7886700" cy="5078712"/>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In medical image classification tasks like </a:t>
            </a:r>
            <a:r>
              <a:rPr lang="en-US" dirty="0" err="1">
                <a:latin typeface="Times New Roman" panose="02020603050405020304" pitchFamily="18" charset="0"/>
                <a:cs typeface="Times New Roman" panose="02020603050405020304" pitchFamily="18" charset="0"/>
              </a:rPr>
              <a:t>BreakHis</a:t>
            </a:r>
            <a:r>
              <a:rPr lang="en-US" dirty="0">
                <a:latin typeface="Times New Roman" panose="02020603050405020304" pitchFamily="18" charset="0"/>
                <a:cs typeface="Times New Roman" panose="02020603050405020304" pitchFamily="18" charset="0"/>
              </a:rPr>
              <a:t> histopathology analysis, </a:t>
            </a:r>
            <a:r>
              <a:rPr lang="en-US" b="1" dirty="0">
                <a:latin typeface="Times New Roman" panose="02020603050405020304" pitchFamily="18" charset="0"/>
                <a:cs typeface="Times New Roman" panose="02020603050405020304" pitchFamily="18" charset="0"/>
              </a:rPr>
              <a:t>EfficientNet-B5 offers superior accuracy</a:t>
            </a:r>
            <a:r>
              <a:rPr lang="en-US" dirty="0">
                <a:latin typeface="Times New Roman" panose="02020603050405020304" pitchFamily="18" charset="0"/>
                <a:cs typeface="Times New Roman" panose="02020603050405020304" pitchFamily="18" charset="0"/>
              </a:rPr>
              <a:t> at the cost of computational intensity, making it ideal for well-resourced clinical environments where maximum diagnostic precision is paramount. Its larger 456×456 input resolution captures finer cellular details and architectural patterns crucial for distinguishing between subtle cancer subtypes, while its deeper architecture provides richer feature representations that typically yield </a:t>
            </a:r>
            <a:r>
              <a:rPr lang="en-US" b="1" dirty="0">
                <a:latin typeface="Times New Roman" panose="02020603050405020304" pitchFamily="18" charset="0"/>
                <a:cs typeface="Times New Roman" panose="02020603050405020304" pitchFamily="18" charset="0"/>
              </a:rPr>
              <a:t>1-3% higher accuracy</a:t>
            </a:r>
            <a:r>
              <a:rPr lang="en-US" dirty="0">
                <a:latin typeface="Times New Roman" panose="02020603050405020304" pitchFamily="18" charset="0"/>
                <a:cs typeface="Times New Roman" panose="02020603050405020304" pitchFamily="18" charset="0"/>
              </a:rPr>
              <a:t> on complex medical imaging tasks compared to B3, albeit requiring approximately </a:t>
            </a:r>
            <a:r>
              <a:rPr lang="en-US" b="1" dirty="0">
                <a:latin typeface="Times New Roman" panose="02020603050405020304" pitchFamily="18" charset="0"/>
                <a:cs typeface="Times New Roman" panose="02020603050405020304" pitchFamily="18" charset="0"/>
              </a:rPr>
              <a:t>double the GPU memory</a:t>
            </a:r>
            <a:r>
              <a:rPr lang="en-US" dirty="0">
                <a:latin typeface="Times New Roman" panose="02020603050405020304" pitchFamily="18" charset="0"/>
                <a:cs typeface="Times New Roman" panose="02020603050405020304" pitchFamily="18" charset="0"/>
              </a:rPr>
              <a:t> and significantly longer training times that demand robust regularization strategies to prevent overfitting on limited medical datasets.</a:t>
            </a:r>
          </a:p>
          <a:p>
            <a:pPr marL="0" indent="0">
              <a:buNone/>
            </a:pPr>
            <a:r>
              <a:rPr lang="en-US" dirty="0">
                <a:latin typeface="Times New Roman" panose="02020603050405020304" pitchFamily="18" charset="0"/>
                <a:cs typeface="Times New Roman" panose="02020603050405020304" pitchFamily="18" charset="0"/>
              </a:rPr>
              <a:t>Conversely, </a:t>
            </a:r>
            <a:r>
              <a:rPr lang="en-US" b="1" dirty="0">
                <a:latin typeface="Times New Roman" panose="02020603050405020304" pitchFamily="18" charset="0"/>
                <a:cs typeface="Times New Roman" panose="02020603050405020304" pitchFamily="18" charset="0"/>
              </a:rPr>
              <a:t>EfficientNet-B3 presents a pragmatic balance</a:t>
            </a:r>
            <a:r>
              <a:rPr lang="en-US" dirty="0">
                <a:latin typeface="Times New Roman" panose="02020603050405020304" pitchFamily="18" charset="0"/>
                <a:cs typeface="Times New Roman" panose="02020603050405020304" pitchFamily="18" charset="0"/>
              </a:rPr>
              <a:t> for resource-constrained scenarios, offering faster inference speeds and substantially lower memory requirements that facilitate rapid prototyping and potential deployment in clinical settings with limited computational infrastructure. While B3 may sacrifice some granular detail detection in extremely complex tissue architectures, it maintains approximately </a:t>
            </a:r>
            <a:r>
              <a:rPr lang="en-US" b="1" dirty="0">
                <a:latin typeface="Times New Roman" panose="02020603050405020304" pitchFamily="18" charset="0"/>
                <a:cs typeface="Times New Roman" panose="02020603050405020304" pitchFamily="18" charset="0"/>
              </a:rPr>
              <a:t>85-90% of B5's diagnostic accuracy</a:t>
            </a:r>
            <a:r>
              <a:rPr lang="en-US" dirty="0">
                <a:latin typeface="Times New Roman" panose="02020603050405020304" pitchFamily="18" charset="0"/>
                <a:cs typeface="Times New Roman" panose="02020603050405020304" pitchFamily="18" charset="0"/>
              </a:rPr>
              <a:t> with considerably improved efficiency, making it particularly suitable for screening applications, multi-model ensembles, or healthcare environments where real-time analysis and hardware limitations take precedence over marginal accuracy gains.</a:t>
            </a:r>
          </a:p>
          <a:p>
            <a:endParaRPr lang="en-US"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83BCF1C-3047-7A05-CB1F-D5AF0C774279}"/>
              </a:ext>
            </a:extLst>
          </p:cNvPr>
          <p:cNvSpPr txBox="1"/>
          <p:nvPr/>
        </p:nvSpPr>
        <p:spPr>
          <a:xfrm>
            <a:off x="699796" y="195942"/>
            <a:ext cx="6158204" cy="523220"/>
          </a:xfrm>
          <a:prstGeom prst="rect">
            <a:avLst/>
          </a:prstGeom>
          <a:noFill/>
        </p:spPr>
        <p:txBody>
          <a:bodyPr wrap="square" rtlCol="0">
            <a:spAutoFit/>
          </a:bodyPr>
          <a:lstStyle/>
          <a:p>
            <a:r>
              <a:rPr lang="en-US" altLang="en-US" sz="2800" b="1" dirty="0">
                <a:solidFill>
                  <a:schemeClr val="bg1"/>
                </a:solidFill>
                <a:cs typeface="Arial" panose="020B0604020202020204" pitchFamily="34" charset="0"/>
              </a:rPr>
              <a:t>COMPARISON</a:t>
            </a:r>
          </a:p>
        </p:txBody>
      </p:sp>
    </p:spTree>
    <p:extLst>
      <p:ext uri="{BB962C8B-B14F-4D97-AF65-F5344CB8AC3E}">
        <p14:creationId xmlns:p14="http://schemas.microsoft.com/office/powerpoint/2010/main" val="1886491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E24552A-8DC8-A441-9629-4D1DDAC445D1}"/>
              </a:ext>
            </a:extLst>
          </p:cNvPr>
          <p:cNvSpPr>
            <a:spLocks noGrp="1"/>
          </p:cNvSpPr>
          <p:nvPr>
            <p:ph type="body" sz="half" idx="2"/>
          </p:nvPr>
        </p:nvSpPr>
        <p:spPr>
          <a:xfrm>
            <a:off x="629840" y="1128713"/>
            <a:ext cx="7942659" cy="4978083"/>
          </a:xfrm>
        </p:spPr>
        <p:txBody>
          <a:bodyPr/>
          <a:lstStyle/>
          <a:p>
            <a:endParaRPr lang="en-US" dirty="0"/>
          </a:p>
        </p:txBody>
      </p:sp>
      <p:sp>
        <p:nvSpPr>
          <p:cNvPr id="6" name="Rectangle 2">
            <a:extLst>
              <a:ext uri="{FF2B5EF4-FFF2-40B4-BE49-F238E27FC236}">
                <a16:creationId xmlns:a16="http://schemas.microsoft.com/office/drawing/2014/main" id="{C7F2A8B2-78A4-D64F-81E1-A72FF0360AB0}"/>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dirty="0">
                <a:solidFill>
                  <a:schemeClr val="bg1"/>
                </a:solidFill>
                <a:latin typeface="+mn-lt"/>
                <a:cs typeface="Arial" panose="020B0604020202020204" pitchFamily="34" charset="0"/>
              </a:rPr>
              <a:t>ALGORITHM/APPROACH/METHODOLOGY</a:t>
            </a:r>
          </a:p>
        </p:txBody>
      </p:sp>
      <p:sp>
        <p:nvSpPr>
          <p:cNvPr id="2" name="Slide Number Placeholder 1">
            <a:extLst>
              <a:ext uri="{FF2B5EF4-FFF2-40B4-BE49-F238E27FC236}">
                <a16:creationId xmlns:a16="http://schemas.microsoft.com/office/drawing/2014/main" id="{77BDB155-6487-4447-8843-7619D69DDAAF}"/>
              </a:ext>
            </a:extLst>
          </p:cNvPr>
          <p:cNvSpPr>
            <a:spLocks noGrp="1"/>
          </p:cNvSpPr>
          <p:nvPr>
            <p:ph type="sldNum" sz="quarter" idx="12"/>
          </p:nvPr>
        </p:nvSpPr>
        <p:spPr/>
        <p:txBody>
          <a:bodyPr/>
          <a:lstStyle/>
          <a:p>
            <a:fld id="{1825A77A-971A-3244-890F-3B99F774724A}" type="slidenum">
              <a:rPr lang="en-US" smtClean="0"/>
              <a:pPr/>
              <a:t>10</a:t>
            </a:fld>
            <a:endParaRPr lang="en-US" dirty="0"/>
          </a:p>
        </p:txBody>
      </p:sp>
      <p:sp>
        <p:nvSpPr>
          <p:cNvPr id="5" name="Picture Placeholder 4">
            <a:extLst>
              <a:ext uri="{FF2B5EF4-FFF2-40B4-BE49-F238E27FC236}">
                <a16:creationId xmlns:a16="http://schemas.microsoft.com/office/drawing/2014/main" id="{38C1B19A-9540-28D2-370E-4DAE17D7D378}"/>
              </a:ext>
            </a:extLst>
          </p:cNvPr>
          <p:cNvSpPr>
            <a:spLocks noGrp="1"/>
          </p:cNvSpPr>
          <p:nvPr>
            <p:ph type="pic" idx="1"/>
          </p:nvPr>
        </p:nvSpPr>
        <p:spPr/>
        <p:txBody>
          <a:bodyPr/>
          <a:lstStyle/>
          <a:p>
            <a:endParaRPr lang="en-US"/>
          </a:p>
        </p:txBody>
      </p:sp>
      <p:graphicFrame>
        <p:nvGraphicFramePr>
          <p:cNvPr id="8" name="Content Placeholder 2">
            <a:extLst>
              <a:ext uri="{FF2B5EF4-FFF2-40B4-BE49-F238E27FC236}">
                <a16:creationId xmlns:a16="http://schemas.microsoft.com/office/drawing/2014/main" id="{2CE5AC78-21EE-1B49-86B8-82403625B293}"/>
              </a:ext>
            </a:extLst>
          </p:cNvPr>
          <p:cNvGraphicFramePr>
            <a:graphicFrameLocks noGrp="1"/>
          </p:cNvGraphicFramePr>
          <p:nvPr/>
        </p:nvGraphicFramePr>
        <p:xfrm>
          <a:off x="629245" y="939959"/>
          <a:ext cx="7885509" cy="49780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0020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6897B39-8EEF-D54A-9ABB-EDB671323EB2}"/>
              </a:ext>
            </a:extLst>
          </p:cNvPr>
          <p:cNvSpPr>
            <a:spLocks noGrp="1"/>
          </p:cNvSpPr>
          <p:nvPr>
            <p:ph type="body" sz="half" idx="2"/>
          </p:nvPr>
        </p:nvSpPr>
        <p:spPr>
          <a:xfrm>
            <a:off x="382555" y="1175657"/>
            <a:ext cx="8118508" cy="4931140"/>
          </a:xfrm>
        </p:spPr>
        <p:txBody>
          <a:bodyPr/>
          <a:lstStyle/>
          <a:p>
            <a:pPr algn="just"/>
            <a:r>
              <a:rPr lang="en-US" sz="1800" dirty="0"/>
              <a:t>EfficientNet-B3 demonstrated strong and well-balanced performance on the </a:t>
            </a:r>
            <a:r>
              <a:rPr lang="en-US" sz="1800" dirty="0" err="1"/>
              <a:t>BreakHis</a:t>
            </a:r>
            <a:r>
              <a:rPr lang="en-US" sz="1800" dirty="0"/>
              <a:t> breast cancer dataset, achieving an accuracy of </a:t>
            </a:r>
            <a:r>
              <a:rPr lang="en-US" sz="1800" b="1" dirty="0"/>
              <a:t>91.21%</a:t>
            </a:r>
            <a:r>
              <a:rPr lang="en-US" sz="1800" dirty="0"/>
              <a:t>, precision of </a:t>
            </a:r>
            <a:r>
              <a:rPr lang="en-US" sz="1800" b="1" dirty="0"/>
              <a:t>89.83%</a:t>
            </a:r>
            <a:r>
              <a:rPr lang="en-US" sz="1800" dirty="0"/>
              <a:t>, recall of </a:t>
            </a:r>
            <a:r>
              <a:rPr lang="en-US" sz="1800" b="1" dirty="0"/>
              <a:t>90.44%</a:t>
            </a:r>
            <a:r>
              <a:rPr lang="en-US" sz="1800" dirty="0"/>
              <a:t>, and an F1-score of </a:t>
            </a:r>
            <a:r>
              <a:rPr lang="en-US" sz="1800" b="1" dirty="0"/>
              <a:t>89.98%</a:t>
            </a:r>
            <a:r>
              <a:rPr lang="en-US" sz="1800" dirty="0"/>
              <a:t>, which indicates reliable multiclass classification across all eight subclasses. The relatively high recall highlights the model’s effectiveness in identifying malignant cases, a critical requirement in medical diagnosis, while the precision and F1-score confirm its robustness against false positives. Compared to lighter architectures such as EfficientNetV2B0, MobileNetV2, and VGG variants, EfficientNet-B3 delivers substantially improved performance, and although some deeper models marginally outperform it, these gains come at a significantly higher computational cost. The strong results achieved by EfficientNet-B3 can be attributed to its compound scaling strategy, which optimally balances network depth, width, and input resolution, enabling effective capture of both global tissue structures and fine-grained histopathological details. This balance between accuracy and efficiency makes EfficientNet-B3 a highly suitable and practical backbone for breast cancer classification using histopathological images.</a:t>
            </a:r>
          </a:p>
        </p:txBody>
      </p:sp>
      <p:sp>
        <p:nvSpPr>
          <p:cNvPr id="5" name="Rectangle 2">
            <a:extLst>
              <a:ext uri="{FF2B5EF4-FFF2-40B4-BE49-F238E27FC236}">
                <a16:creationId xmlns:a16="http://schemas.microsoft.com/office/drawing/2014/main" id="{9AAF9F8F-9877-1243-BF92-74D8C3F1781F}"/>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mn-lt"/>
                <a:cs typeface="Arial" panose="020B0604020202020204" pitchFamily="34" charset="0"/>
              </a:rPr>
              <a:t>MODEL RESULTS</a:t>
            </a:r>
          </a:p>
        </p:txBody>
      </p:sp>
      <p:sp>
        <p:nvSpPr>
          <p:cNvPr id="2" name="Slide Number Placeholder 1">
            <a:extLst>
              <a:ext uri="{FF2B5EF4-FFF2-40B4-BE49-F238E27FC236}">
                <a16:creationId xmlns:a16="http://schemas.microsoft.com/office/drawing/2014/main" id="{16AB81F8-0768-4973-B1B1-77582F122E01}"/>
              </a:ext>
            </a:extLst>
          </p:cNvPr>
          <p:cNvSpPr>
            <a:spLocks noGrp="1"/>
          </p:cNvSpPr>
          <p:nvPr>
            <p:ph type="sldNum" sz="quarter" idx="12"/>
          </p:nvPr>
        </p:nvSpPr>
        <p:spPr/>
        <p:txBody>
          <a:bodyPr/>
          <a:lstStyle/>
          <a:p>
            <a:fld id="{1825A77A-971A-3244-890F-3B99F774724A}" type="slidenum">
              <a:rPr lang="en-US" smtClean="0"/>
              <a:pPr/>
              <a:t>11</a:t>
            </a:fld>
            <a:endParaRPr lang="en-US" dirty="0"/>
          </a:p>
        </p:txBody>
      </p:sp>
    </p:spTree>
    <p:extLst>
      <p:ext uri="{BB962C8B-B14F-4D97-AF65-F5344CB8AC3E}">
        <p14:creationId xmlns:p14="http://schemas.microsoft.com/office/powerpoint/2010/main" val="4148979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D9098E-5BEC-EE4C-91E9-41A1CB5F73B3}"/>
              </a:ext>
            </a:extLst>
          </p:cNvPr>
          <p:cNvSpPr txBox="1"/>
          <p:nvPr/>
        </p:nvSpPr>
        <p:spPr>
          <a:xfrm>
            <a:off x="3200401" y="2971800"/>
            <a:ext cx="184731" cy="248209"/>
          </a:xfrm>
          <a:prstGeom prst="rect">
            <a:avLst/>
          </a:prstGeom>
          <a:noFill/>
        </p:spPr>
        <p:txBody>
          <a:bodyPr wrap="none" rtlCol="0">
            <a:spAutoFit/>
          </a:bodyPr>
          <a:lstStyle/>
          <a:p>
            <a:endParaRPr lang="en-US" sz="1013" dirty="0"/>
          </a:p>
        </p:txBody>
      </p:sp>
      <p:sp>
        <p:nvSpPr>
          <p:cNvPr id="14" name="Rectangle 2">
            <a:extLst>
              <a:ext uri="{FF2B5EF4-FFF2-40B4-BE49-F238E27FC236}">
                <a16:creationId xmlns:a16="http://schemas.microsoft.com/office/drawing/2014/main" id="{66207839-FAB5-C647-B752-1E110BE99279}"/>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mn-lt"/>
                <a:cs typeface="Arial" panose="020B0604020202020204" pitchFamily="34" charset="0"/>
              </a:rPr>
              <a:t>RESULTS</a:t>
            </a:r>
          </a:p>
        </p:txBody>
      </p:sp>
      <p:sp>
        <p:nvSpPr>
          <p:cNvPr id="2" name="Slide Number Placeholder 1">
            <a:extLst>
              <a:ext uri="{FF2B5EF4-FFF2-40B4-BE49-F238E27FC236}">
                <a16:creationId xmlns:a16="http://schemas.microsoft.com/office/drawing/2014/main" id="{668437EB-2167-4AA1-BF66-4E9103D7B1D5}"/>
              </a:ext>
            </a:extLst>
          </p:cNvPr>
          <p:cNvSpPr>
            <a:spLocks noGrp="1"/>
          </p:cNvSpPr>
          <p:nvPr>
            <p:ph type="sldNum" sz="quarter" idx="12"/>
          </p:nvPr>
        </p:nvSpPr>
        <p:spPr/>
        <p:txBody>
          <a:bodyPr/>
          <a:lstStyle/>
          <a:p>
            <a:fld id="{1825A77A-971A-3244-890F-3B99F774724A}" type="slidenum">
              <a:rPr lang="en-US" smtClean="0"/>
              <a:pPr/>
              <a:t>12</a:t>
            </a:fld>
            <a:endParaRPr lang="en-US" dirty="0"/>
          </a:p>
        </p:txBody>
      </p:sp>
      <p:pic>
        <p:nvPicPr>
          <p:cNvPr id="4" name="Content Placeholder 3" descr="A table of numbers and a number&#10;&#10;AI-generated content may be incorrect.">
            <a:extLst>
              <a:ext uri="{FF2B5EF4-FFF2-40B4-BE49-F238E27FC236}">
                <a16:creationId xmlns:a16="http://schemas.microsoft.com/office/drawing/2014/main" id="{0B8C89FA-1E96-48F6-2E6D-282D4CEDB85A}"/>
              </a:ext>
            </a:extLst>
          </p:cNvPr>
          <p:cNvPicPr>
            <a:picLocks noGrp="1" noChangeAspect="1"/>
          </p:cNvPicPr>
          <p:nvPr>
            <p:ph sz="half" idx="1"/>
          </p:nvPr>
        </p:nvPicPr>
        <p:blipFill>
          <a:blip r:embed="rId2"/>
          <a:stretch>
            <a:fillRect/>
          </a:stretch>
        </p:blipFill>
        <p:spPr>
          <a:xfrm>
            <a:off x="1464906" y="942499"/>
            <a:ext cx="6447453" cy="5400152"/>
          </a:xfrm>
          <a:prstGeom prst="rect">
            <a:avLst/>
          </a:prstGeom>
        </p:spPr>
      </p:pic>
    </p:spTree>
    <p:extLst>
      <p:ext uri="{BB962C8B-B14F-4D97-AF65-F5344CB8AC3E}">
        <p14:creationId xmlns:p14="http://schemas.microsoft.com/office/powerpoint/2010/main" val="2985942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2B9CB-7DFE-3353-0B86-8C94C2F1F6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9AFBF0A-AFC1-7DF5-C728-4EED98384757}"/>
              </a:ext>
            </a:extLst>
          </p:cNvPr>
          <p:cNvSpPr txBox="1"/>
          <p:nvPr/>
        </p:nvSpPr>
        <p:spPr>
          <a:xfrm>
            <a:off x="3200401" y="2971800"/>
            <a:ext cx="184731" cy="248209"/>
          </a:xfrm>
          <a:prstGeom prst="rect">
            <a:avLst/>
          </a:prstGeom>
          <a:noFill/>
        </p:spPr>
        <p:txBody>
          <a:bodyPr wrap="none" rtlCol="0">
            <a:spAutoFit/>
          </a:bodyPr>
          <a:lstStyle/>
          <a:p>
            <a:endParaRPr lang="en-US" sz="1013" dirty="0"/>
          </a:p>
        </p:txBody>
      </p:sp>
      <p:sp>
        <p:nvSpPr>
          <p:cNvPr id="14" name="Rectangle 2">
            <a:extLst>
              <a:ext uri="{FF2B5EF4-FFF2-40B4-BE49-F238E27FC236}">
                <a16:creationId xmlns:a16="http://schemas.microsoft.com/office/drawing/2014/main" id="{168A7568-7479-782B-37EA-169458B26C38}"/>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mn-lt"/>
                <a:cs typeface="Arial" panose="020B0604020202020204" pitchFamily="34" charset="0"/>
              </a:rPr>
              <a:t>RESULTS</a:t>
            </a:r>
          </a:p>
        </p:txBody>
      </p:sp>
      <p:sp>
        <p:nvSpPr>
          <p:cNvPr id="2" name="Slide Number Placeholder 1">
            <a:extLst>
              <a:ext uri="{FF2B5EF4-FFF2-40B4-BE49-F238E27FC236}">
                <a16:creationId xmlns:a16="http://schemas.microsoft.com/office/drawing/2014/main" id="{D203B32B-C3C6-BE63-B513-A7FF5F111801}"/>
              </a:ext>
            </a:extLst>
          </p:cNvPr>
          <p:cNvSpPr>
            <a:spLocks noGrp="1"/>
          </p:cNvSpPr>
          <p:nvPr>
            <p:ph type="sldNum" sz="quarter" idx="12"/>
          </p:nvPr>
        </p:nvSpPr>
        <p:spPr/>
        <p:txBody>
          <a:bodyPr/>
          <a:lstStyle/>
          <a:p>
            <a:fld id="{1825A77A-971A-3244-890F-3B99F774724A}" type="slidenum">
              <a:rPr lang="en-US" smtClean="0"/>
              <a:pPr/>
              <a:t>13</a:t>
            </a:fld>
            <a:endParaRPr lang="en-US" dirty="0"/>
          </a:p>
        </p:txBody>
      </p:sp>
      <p:sp>
        <p:nvSpPr>
          <p:cNvPr id="6" name="Content Placeholder 5">
            <a:extLst>
              <a:ext uri="{FF2B5EF4-FFF2-40B4-BE49-F238E27FC236}">
                <a16:creationId xmlns:a16="http://schemas.microsoft.com/office/drawing/2014/main" id="{BEDE0653-A405-92BB-6EC5-B0F456CF72AA}"/>
              </a:ext>
            </a:extLst>
          </p:cNvPr>
          <p:cNvSpPr>
            <a:spLocks noGrp="1"/>
          </p:cNvSpPr>
          <p:nvPr>
            <p:ph sz="half" idx="1"/>
          </p:nvPr>
        </p:nvSpPr>
        <p:spPr>
          <a:xfrm>
            <a:off x="628650" y="1035698"/>
            <a:ext cx="7886700" cy="5134696"/>
          </a:xfrm>
        </p:spPr>
        <p:txBody>
          <a:bodyPr>
            <a:normAutofit fontScale="77500" lnSpcReduction="20000"/>
          </a:bodyPr>
          <a:lstStyle/>
          <a:p>
            <a:pPr marL="0" indent="0">
              <a:buNone/>
            </a:pPr>
            <a:r>
              <a:rPr lang="en-US" dirty="0">
                <a:latin typeface="Times New Roman" panose="02020603050405020304" pitchFamily="18" charset="0"/>
                <a:cs typeface="Times New Roman" panose="02020603050405020304" pitchFamily="18" charset="0"/>
              </a:rPr>
              <a:t>The proposed EfficientNet-B5–based model was evaluated on a held-out test set to assess its effectiveness in multi-class breast cancer histopathology classification. The evaluation employed accuracy and macro-averaged F1 score as the primary performance metrics, with macro-F1 emphasized to account for class imbalance across the eight tumor subtypes in the </a:t>
            </a:r>
            <a:r>
              <a:rPr lang="en-US" dirty="0" err="1">
                <a:latin typeface="Times New Roman" panose="02020603050405020304" pitchFamily="18" charset="0"/>
                <a:cs typeface="Times New Roman" panose="02020603050405020304" pitchFamily="18" charset="0"/>
              </a:rPr>
              <a:t>BreakHis</a:t>
            </a:r>
            <a:r>
              <a:rPr lang="en-US" dirty="0">
                <a:latin typeface="Times New Roman" panose="02020603050405020304" pitchFamily="18" charset="0"/>
                <a:cs typeface="Times New Roman" panose="02020603050405020304" pitchFamily="18" charset="0"/>
              </a:rPr>
              <a:t> dataset. The model demonstrated strong generalization performance, achieving high classification accuracy and a consistently high macro-F1 score, indicating balanced predictive capability across both benign and malignant categories. Analysis of the confusion matrix revealed that most samples were correctly classified, with misclassifications occurring mainly between histologically similar subtypes, which is expected given the subtle morphological differences in breast tissue images. Per-class F1 score analysis further confirmed stable performance across majority and minority classes, validating the effectiveness of class-weighted loss and regularization strategies. Additionally, Grad-CAM visualizations showed that the model focused on clinically relevant regions such as nuclei and tissue structures, enhancing interpretability and reinforcing confidence in the model’s decision-making process</a:t>
            </a:r>
          </a:p>
        </p:txBody>
      </p:sp>
    </p:spTree>
    <p:extLst>
      <p:ext uri="{BB962C8B-B14F-4D97-AF65-F5344CB8AC3E}">
        <p14:creationId xmlns:p14="http://schemas.microsoft.com/office/powerpoint/2010/main" val="1816957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81C75F-C6A1-F249-8911-735ED4C2D23D}"/>
              </a:ext>
            </a:extLst>
          </p:cNvPr>
          <p:cNvSpPr>
            <a:spLocks noGrp="1"/>
          </p:cNvSpPr>
          <p:nvPr>
            <p:ph sz="half" idx="1"/>
          </p:nvPr>
        </p:nvSpPr>
        <p:spPr>
          <a:xfrm>
            <a:off x="195943" y="1142999"/>
            <a:ext cx="8845419" cy="5388429"/>
          </a:xfrm>
        </p:spPr>
        <p:txBody>
          <a:bodyPr>
            <a:normAutofit lnSpcReduction="10000"/>
          </a:bodyPr>
          <a:lstStyle/>
          <a:p>
            <a:pPr marL="0" indent="0">
              <a:buNone/>
            </a:pPr>
            <a:r>
              <a:rPr lang="en-US" dirty="0"/>
              <a:t> </a:t>
            </a:r>
            <a:r>
              <a:rPr lang="en-US" sz="1800" dirty="0">
                <a:latin typeface="Times New Roman" panose="02020603050405020304" pitchFamily="18" charset="0"/>
                <a:cs typeface="Times New Roman" panose="02020603050405020304" pitchFamily="18" charset="0"/>
              </a:rPr>
              <a:t>CONCLUSION:</a:t>
            </a:r>
          </a:p>
          <a:p>
            <a:pPr marL="0" indent="0">
              <a:buNone/>
            </a:pPr>
            <a:r>
              <a:rPr lang="en-US" sz="1800" dirty="0">
                <a:latin typeface="Times New Roman" panose="02020603050405020304" pitchFamily="18" charset="0"/>
                <a:cs typeface="Times New Roman" panose="02020603050405020304" pitchFamily="18" charset="0"/>
              </a:rPr>
              <a:t>The code successfully implements a robust, end-to-end deep learning pipeline for histopathological image classification on the </a:t>
            </a:r>
            <a:r>
              <a:rPr lang="en-US" sz="1800" dirty="0" err="1">
                <a:latin typeface="Times New Roman" panose="02020603050405020304" pitchFamily="18" charset="0"/>
                <a:cs typeface="Times New Roman" panose="02020603050405020304" pitchFamily="18" charset="0"/>
              </a:rPr>
              <a:t>BreakHis</a:t>
            </a:r>
            <a:r>
              <a:rPr lang="en-US" sz="1800" dirty="0">
                <a:latin typeface="Times New Roman" panose="02020603050405020304" pitchFamily="18" charset="0"/>
                <a:cs typeface="Times New Roman" panose="02020603050405020304" pitchFamily="18" charset="0"/>
              </a:rPr>
              <a:t> dataset, demonstrating proficiency in handling medical imaging challenges through class imbalance mitigation, sophisticated data augmentation, and advanced regularization techniques. It employs an EfficientNet-B5 architecture with strategic fine-tuning, achieving strong performance with comprehensive evaluation metrics including macro-F1 scores and per-class analysis. The implementation showcases production-ready practices such as mixed precision training, gradient clipping, and EMA, while providing model interpretability through Grad-CAM visualizations, making it a reliable and reproducible framework for medical image analysis tasks.</a:t>
            </a:r>
          </a:p>
          <a:p>
            <a:pPr marL="0" indent="0">
              <a:buNone/>
            </a:pPr>
            <a:r>
              <a:rPr lang="en-US" sz="1800" dirty="0">
                <a:latin typeface="Times New Roman" panose="02020603050405020304" pitchFamily="18" charset="0"/>
                <a:cs typeface="Times New Roman" panose="02020603050405020304" pitchFamily="18" charset="0"/>
              </a:rPr>
              <a:t>FUTURE WORK:</a:t>
            </a:r>
          </a:p>
          <a:p>
            <a:pPr marL="0" indent="0">
              <a:buNone/>
            </a:pPr>
            <a:r>
              <a:rPr lang="en-US" sz="1800" dirty="0">
                <a:latin typeface="Times New Roman" panose="02020603050405020304" pitchFamily="18" charset="0"/>
                <a:cs typeface="Times New Roman" panose="02020603050405020304" pitchFamily="18" charset="0"/>
              </a:rPr>
              <a:t>Future enhancements should focus on advancing model capabilities through Vision Transformers or ensemble methods, integrating medical-specific techniques like stain normalization and multi-resolution analysis, and improving robustness with advanced training strategies such as curriculum learning and contrastive objectives. Deployment considerations should include model compression for clinical integration, developing interactive interfaces for pathologists, and establishing continuous learning pipelines, while research directions should expand into multi-modal learning with genomic data, uncertainty quantification for clinical decision support, and large-scale validation studies to ensure translational impact in real-world diagnostic workflows.</a:t>
            </a:r>
          </a:p>
        </p:txBody>
      </p:sp>
      <p:sp>
        <p:nvSpPr>
          <p:cNvPr id="4" name="Rectangle 3">
            <a:extLst>
              <a:ext uri="{FF2B5EF4-FFF2-40B4-BE49-F238E27FC236}">
                <a16:creationId xmlns:a16="http://schemas.microsoft.com/office/drawing/2014/main" id="{F0A7DF44-3DAB-B743-93F0-C6ABA765A070}"/>
              </a:ext>
            </a:extLst>
          </p:cNvPr>
          <p:cNvSpPr/>
          <p:nvPr/>
        </p:nvSpPr>
        <p:spPr>
          <a:xfrm>
            <a:off x="4094144" y="3278959"/>
            <a:ext cx="955711" cy="300082"/>
          </a:xfrm>
          <a:prstGeom prst="rect">
            <a:avLst/>
          </a:prstGeom>
        </p:spPr>
        <p:txBody>
          <a:bodyPr wrap="none">
            <a:spAutoFit/>
          </a:bodyPr>
          <a:lstStyle/>
          <a:p>
            <a:r>
              <a:rPr lang="en-US" dirty="0">
                <a:solidFill>
                  <a:srgbClr val="FFFFFF"/>
                </a:solidFill>
              </a:rPr>
              <a:t>Conclusion</a:t>
            </a:r>
            <a:endParaRPr lang="en-US" dirty="0"/>
          </a:p>
        </p:txBody>
      </p:sp>
      <p:sp>
        <p:nvSpPr>
          <p:cNvPr id="7" name="Rectangle 2">
            <a:extLst>
              <a:ext uri="{FF2B5EF4-FFF2-40B4-BE49-F238E27FC236}">
                <a16:creationId xmlns:a16="http://schemas.microsoft.com/office/drawing/2014/main" id="{41B7E36A-E709-2A49-87DB-0514E99099BA}"/>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mn-lt"/>
                <a:cs typeface="Arial" panose="020B0604020202020204" pitchFamily="34" charset="0"/>
              </a:rPr>
              <a:t>CONCLUSION &amp; FUTURE WORK</a:t>
            </a:r>
          </a:p>
        </p:txBody>
      </p:sp>
      <p:sp>
        <p:nvSpPr>
          <p:cNvPr id="2" name="Slide Number Placeholder 1">
            <a:extLst>
              <a:ext uri="{FF2B5EF4-FFF2-40B4-BE49-F238E27FC236}">
                <a16:creationId xmlns:a16="http://schemas.microsoft.com/office/drawing/2014/main" id="{8E9D95AC-7C9F-4104-805C-0291CA50ECDB}"/>
              </a:ext>
            </a:extLst>
          </p:cNvPr>
          <p:cNvSpPr>
            <a:spLocks noGrp="1"/>
          </p:cNvSpPr>
          <p:nvPr>
            <p:ph type="sldNum" sz="quarter" idx="12"/>
          </p:nvPr>
        </p:nvSpPr>
        <p:spPr/>
        <p:txBody>
          <a:bodyPr/>
          <a:lstStyle/>
          <a:p>
            <a:fld id="{1825A77A-971A-3244-890F-3B99F774724A}" type="slidenum">
              <a:rPr lang="en-US" smtClean="0"/>
              <a:pPr/>
              <a:t>14</a:t>
            </a:fld>
            <a:endParaRPr lang="en-US" dirty="0"/>
          </a:p>
        </p:txBody>
      </p:sp>
    </p:spTree>
    <p:extLst>
      <p:ext uri="{BB962C8B-B14F-4D97-AF65-F5344CB8AC3E}">
        <p14:creationId xmlns:p14="http://schemas.microsoft.com/office/powerpoint/2010/main" val="1110755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44DDEF-9499-0848-9FF9-781097E13E62}"/>
              </a:ext>
            </a:extLst>
          </p:cNvPr>
          <p:cNvSpPr>
            <a:spLocks noGrp="1"/>
          </p:cNvSpPr>
          <p:nvPr>
            <p:ph sz="half" idx="1"/>
          </p:nvPr>
        </p:nvSpPr>
        <p:spPr>
          <a:xfrm>
            <a:off x="628650" y="1308295"/>
            <a:ext cx="7886700" cy="4862099"/>
          </a:xfrm>
        </p:spPr>
        <p:txBody>
          <a:bodyPr>
            <a:normAutofit/>
          </a:bodyPr>
          <a:lstStyle/>
          <a:p>
            <a:r>
              <a:rPr lang="en-US" sz="2000" dirty="0">
                <a:latin typeface="Times New Roman" panose="02020603050405020304" pitchFamily="18" charset="0"/>
                <a:cs typeface="Times New Roman" panose="02020603050405020304" pitchFamily="18" charset="0"/>
              </a:rPr>
              <a:t>Deep learning‑based risk stratification of preoperative breast biopsies using digital whole slide images (2024) — </a:t>
            </a:r>
            <a:r>
              <a:rPr lang="en-US" sz="2000" dirty="0" err="1">
                <a:latin typeface="Times New Roman" panose="02020603050405020304" pitchFamily="18" charset="0"/>
                <a:cs typeface="Times New Roman" panose="02020603050405020304" pitchFamily="18" charset="0"/>
              </a:rPr>
              <a:t>Boissin</a:t>
            </a:r>
            <a:r>
              <a:rPr lang="en-US" sz="2000" dirty="0">
                <a:latin typeface="Times New Roman" panose="02020603050405020304" pitchFamily="18" charset="0"/>
                <a:cs typeface="Times New Roman" panose="02020603050405020304" pitchFamily="18" charset="0"/>
              </a:rPr>
              <a:t>, C., Wang, Y., Sharma, A. et al.</a:t>
            </a:r>
          </a:p>
          <a:p>
            <a:r>
              <a:rPr lang="en-US" sz="2000" dirty="0">
                <a:latin typeface="Times New Roman" panose="02020603050405020304" pitchFamily="18" charset="0"/>
                <a:cs typeface="Times New Roman" panose="02020603050405020304" pitchFamily="18" charset="0"/>
              </a:rPr>
              <a:t>Extended Deep‑Learning Network for Histopathological Image‑Based Multiclass Breast Cancer Classification Using Residual Features (2024) — </a:t>
            </a:r>
            <a:r>
              <a:rPr lang="en-US" sz="2000" dirty="0" err="1">
                <a:latin typeface="Times New Roman" panose="02020603050405020304" pitchFamily="18" charset="0"/>
                <a:cs typeface="Times New Roman" panose="02020603050405020304" pitchFamily="18" charset="0"/>
              </a:rPr>
              <a:t>Mewada</a:t>
            </a:r>
            <a:r>
              <a:rPr lang="en-US" sz="2000" dirty="0">
                <a:latin typeface="Times New Roman" panose="02020603050405020304" pitchFamily="18" charset="0"/>
                <a:cs typeface="Times New Roman" panose="02020603050405020304" pitchFamily="18" charset="0"/>
              </a:rPr>
              <a:t>, H.</a:t>
            </a:r>
          </a:p>
          <a:p>
            <a:r>
              <a:rPr lang="en-US" sz="2000" dirty="0">
                <a:latin typeface="Times New Roman" panose="02020603050405020304" pitchFamily="18" charset="0"/>
                <a:cs typeface="Times New Roman" panose="02020603050405020304" pitchFamily="18" charset="0"/>
              </a:rPr>
              <a:t>Deep learning and vision transformers‑based framework for breast cancer and subtype identification (2025) — Author(s) not specified here, published in </a:t>
            </a:r>
            <a:r>
              <a:rPr lang="en-US" sz="2000" i="1" dirty="0">
                <a:latin typeface="Times New Roman" panose="02020603050405020304" pitchFamily="18" charset="0"/>
                <a:cs typeface="Times New Roman" panose="02020603050405020304" pitchFamily="18" charset="0"/>
              </a:rPr>
              <a:t>Neural Computing and Applications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Breast cancer diagnosis with MFF‑</a:t>
            </a:r>
            <a:r>
              <a:rPr lang="en-US" sz="2000" dirty="0" err="1">
                <a:latin typeface="Times New Roman" panose="02020603050405020304" pitchFamily="18" charset="0"/>
                <a:cs typeface="Times New Roman" panose="02020603050405020304" pitchFamily="18" charset="0"/>
              </a:rPr>
              <a:t>HistoNet</a:t>
            </a:r>
            <a:r>
              <a:rPr lang="en-US" sz="2000" dirty="0">
                <a:latin typeface="Times New Roman" panose="02020603050405020304" pitchFamily="18" charset="0"/>
                <a:cs typeface="Times New Roman" panose="02020603050405020304" pitchFamily="18" charset="0"/>
              </a:rPr>
              <a:t>: a multi‑modal feature fusion network integrating CNNs and quantum tensor networks (2025) — Mahmood, T., Saba, T., Rehman, A.</a:t>
            </a:r>
          </a:p>
          <a:p>
            <a:r>
              <a:rPr lang="en-US" sz="2000" dirty="0">
                <a:latin typeface="Times New Roman" panose="02020603050405020304" pitchFamily="18" charset="0"/>
                <a:cs typeface="Times New Roman" panose="02020603050405020304" pitchFamily="18" charset="0"/>
              </a:rPr>
              <a:t>Comparative Analysis and Ensemble Enhancement of Leading CNN Architectures for Breast Cancer Classification (2024) — Murphy, G., Singh, R. (pre-print on </a:t>
            </a:r>
            <a:r>
              <a:rPr lang="en-US" sz="2000" dirty="0" err="1">
                <a:latin typeface="Times New Roman" panose="02020603050405020304" pitchFamily="18" charset="0"/>
                <a:cs typeface="Times New Roman" panose="02020603050405020304" pitchFamily="18" charset="0"/>
              </a:rPr>
              <a:t>arXiv</a:t>
            </a:r>
            <a:r>
              <a:rPr lang="en-US" sz="2000" dirty="0">
                <a:latin typeface="Times New Roman" panose="02020603050405020304" pitchFamily="18" charset="0"/>
                <a:cs typeface="Times New Roman" panose="02020603050405020304" pitchFamily="18" charset="0"/>
              </a:rPr>
              <a:t>)</a:t>
            </a:r>
          </a:p>
          <a:p>
            <a:pPr marL="0" indent="0">
              <a:buNone/>
            </a:pPr>
            <a:endParaRPr lang="en-US" sz="2100" dirty="0"/>
          </a:p>
        </p:txBody>
      </p:sp>
      <p:sp>
        <p:nvSpPr>
          <p:cNvPr id="4" name="Rectangle 2">
            <a:extLst>
              <a:ext uri="{FF2B5EF4-FFF2-40B4-BE49-F238E27FC236}">
                <a16:creationId xmlns:a16="http://schemas.microsoft.com/office/drawing/2014/main" id="{DEA7237B-41C8-C945-8A8B-F98542EAD940}"/>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mn-lt"/>
                <a:cs typeface="Arial" panose="020B0604020202020204" pitchFamily="34" charset="0"/>
              </a:rPr>
              <a:t>REFERENCES</a:t>
            </a:r>
          </a:p>
        </p:txBody>
      </p:sp>
      <p:sp>
        <p:nvSpPr>
          <p:cNvPr id="2" name="Slide Number Placeholder 1">
            <a:extLst>
              <a:ext uri="{FF2B5EF4-FFF2-40B4-BE49-F238E27FC236}">
                <a16:creationId xmlns:a16="http://schemas.microsoft.com/office/drawing/2014/main" id="{2A708A80-5276-43A4-AB04-3C04926F5D8B}"/>
              </a:ext>
            </a:extLst>
          </p:cNvPr>
          <p:cNvSpPr>
            <a:spLocks noGrp="1"/>
          </p:cNvSpPr>
          <p:nvPr>
            <p:ph type="sldNum" sz="quarter" idx="12"/>
          </p:nvPr>
        </p:nvSpPr>
        <p:spPr/>
        <p:txBody>
          <a:bodyPr/>
          <a:lstStyle/>
          <a:p>
            <a:fld id="{1825A77A-971A-3244-890F-3B99F774724A}" type="slidenum">
              <a:rPr lang="en-US" smtClean="0"/>
              <a:pPr/>
              <a:t>15</a:t>
            </a:fld>
            <a:endParaRPr lang="en-US" dirty="0"/>
          </a:p>
        </p:txBody>
      </p:sp>
    </p:spTree>
    <p:extLst>
      <p:ext uri="{BB962C8B-B14F-4D97-AF65-F5344CB8AC3E}">
        <p14:creationId xmlns:p14="http://schemas.microsoft.com/office/powerpoint/2010/main" val="137156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A93304-03D7-493E-92D6-38FC853DA1C0}"/>
              </a:ext>
            </a:extLst>
          </p:cNvPr>
          <p:cNvSpPr>
            <a:spLocks noGrp="1"/>
          </p:cNvSpPr>
          <p:nvPr>
            <p:ph type="sldNum" sz="quarter" idx="12"/>
          </p:nvPr>
        </p:nvSpPr>
        <p:spPr/>
        <p:txBody>
          <a:bodyPr/>
          <a:lstStyle/>
          <a:p>
            <a:fld id="{1825A77A-971A-3244-890F-3B99F774724A}" type="slidenum">
              <a:rPr lang="en-US" smtClean="0"/>
              <a:pPr/>
              <a:t>16</a:t>
            </a:fld>
            <a:endParaRPr lang="en-US" dirty="0"/>
          </a:p>
        </p:txBody>
      </p:sp>
      <p:sp>
        <p:nvSpPr>
          <p:cNvPr id="5" name="Title 1">
            <a:extLst>
              <a:ext uri="{FF2B5EF4-FFF2-40B4-BE49-F238E27FC236}">
                <a16:creationId xmlns:a16="http://schemas.microsoft.com/office/drawing/2014/main" id="{1DCFDDDB-0F2B-4CC6-8C8A-5C6670B6DE9E}"/>
              </a:ext>
            </a:extLst>
          </p:cNvPr>
          <p:cNvSpPr txBox="1">
            <a:spLocks/>
          </p:cNvSpPr>
          <p:nvPr/>
        </p:nvSpPr>
        <p:spPr>
          <a:xfrm>
            <a:off x="5688672" y="2552995"/>
            <a:ext cx="2911715" cy="1603800"/>
          </a:xfrm>
          <a:prstGeom prst="rect">
            <a:avLst/>
          </a:prstGeom>
        </p:spPr>
        <p:txBody>
          <a:bodyPr>
            <a:norm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Any Questions</a:t>
            </a:r>
          </a:p>
        </p:txBody>
      </p:sp>
    </p:spTree>
    <p:extLst>
      <p:ext uri="{BB962C8B-B14F-4D97-AF65-F5344CB8AC3E}">
        <p14:creationId xmlns:p14="http://schemas.microsoft.com/office/powerpoint/2010/main" val="37495997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922</TotalTime>
  <Words>2256</Words>
  <Application>Microsoft Office PowerPoint</Application>
  <PresentationFormat>On-screen Show (4:3)</PresentationFormat>
  <Paragraphs>114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Microsoft Office User</dc:creator>
  <cp:lastModifiedBy>Rishik Konduru</cp:lastModifiedBy>
  <cp:revision>56</cp:revision>
  <dcterms:created xsi:type="dcterms:W3CDTF">2020-12-17T21:21:33Z</dcterms:created>
  <dcterms:modified xsi:type="dcterms:W3CDTF">2025-12-12T23:17:32Z</dcterms:modified>
</cp:coreProperties>
</file>